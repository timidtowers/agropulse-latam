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2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Productores</c:v>
                </c:pt>
              </c:strCache>
            </c:strRef>
          </c:tx>
          <c:spPr>
            <a:solidFill>
              <a:srgbClr val="15803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F172A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Hortalizas</c:v>
                  </c:pt>
                  <c:pt idx="1">
                    <c:v>Frutas</c:v>
                  </c:pt>
                  <c:pt idx="2">
                    <c:v>Lácteos</c:v>
                  </c:pt>
                  <c:pt idx="3">
                    <c:v>Granos</c:v>
                  </c:pt>
                  <c:pt idx="4">
                    <c:v>Otros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22000</c:v>
                </c:pt>
                <c:pt idx="1">
                  <c:v>14500</c:v>
                </c:pt>
                <c:pt idx="2">
                  <c:v>7500</c:v>
                </c:pt>
                <c:pt idx="3">
                  <c:v>4000</c:v>
                </c:pt>
                <c:pt idx="4">
                  <c:v>2000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F172A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4748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F1F5F9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Productores onboarded</c:v>
                </c:pt>
              </c:strCache>
            </c:strRef>
          </c:tx>
          <c:spPr>
            <a:solidFill>
              <a:srgbClr val="15803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F172A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Año 1</c:v>
                  </c:pt>
                  <c:pt idx="1">
                    <c:v>Año 2</c:v>
                  </c:pt>
                  <c:pt idx="2">
                    <c:v>Año 3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500</c:v>
                </c:pt>
                <c:pt idx="1">
                  <c:v>2000</c:v>
                </c:pt>
                <c:pt idx="2">
                  <c:v>5000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GMV (USD millones)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F172A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Año 1</c:v>
                  </c:pt>
                  <c:pt idx="1">
                    <c:v>Año 2</c:v>
                  </c:pt>
                  <c:pt idx="2">
                    <c:v>Año 3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12</c:v>
                </c:pt>
                <c:pt idx="1">
                  <c:v>35</c:v>
                </c:pt>
                <c:pt idx="2">
                  <c:v>80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0F172A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F1F5F9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0F172A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image" Target="../media/image-10-8.png"/><Relationship Id="rId9" Type="http://schemas.openxmlformats.org/officeDocument/2006/relationships/image" Target="../media/image-10-9.png"/><Relationship Id="rId10" Type="http://schemas.openxmlformats.org/officeDocument/2006/relationships/image" Target="../media/image-10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53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84CC16"/>
          </a:solidFill>
          <a:ln w="12700">
            <a:solidFill>
              <a:srgbClr val="84CC1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0" y="1371600"/>
            <a:ext cx="1005840" cy="1005840"/>
          </a:xfrm>
          <a:prstGeom prst="roundRect">
            <a:avLst>
              <a:gd name="adj" fmla="val 16364"/>
            </a:avLst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" y="1600200"/>
            <a:ext cx="548640" cy="5486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2103120" y="1417320"/>
            <a:ext cx="7315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AgroPulse</a:t>
            </a:r>
            <a:endParaRPr lang="en-US" sz="7600" dirty="0"/>
          </a:p>
        </p:txBody>
      </p:sp>
      <p:sp>
        <p:nvSpPr>
          <p:cNvPr id="6" name="Text 3"/>
          <p:cNvSpPr/>
          <p:nvPr/>
        </p:nvSpPr>
        <p:spPr>
          <a:xfrm>
            <a:off x="914400" y="2606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84CC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pulso inteligente de tu cosecha.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914400" y="3291840"/>
            <a:ext cx="1371600" cy="54864"/>
          </a:xfrm>
          <a:prstGeom prst="rect">
            <a:avLst/>
          </a:prstGeom>
          <a:solidFill>
            <a:srgbClr val="84CC16"/>
          </a:solidFill>
          <a:ln w="12700">
            <a:solidFill>
              <a:srgbClr val="84CC16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35204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 E-business para reducir pérdidas post-cosecha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914400" y="39776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IoT · Machine Learning · Marketplace B2B · Trazabilidad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914400" y="4937760"/>
            <a:ext cx="10332720" cy="36576"/>
          </a:xfrm>
          <a:prstGeom prst="rect">
            <a:avLst/>
          </a:prstGeom>
          <a:solidFill>
            <a:srgbClr val="84CC16">
              <a:alpha val="50000"/>
            </a:srgbClr>
          </a:solidFill>
          <a:ln w="12700">
            <a:solidFill>
              <a:srgbClr val="84CC16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14400" y="5120640"/>
            <a:ext cx="10058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Autor:  </a:t>
            </a:r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Sebastián Torres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Materia:  </a:t>
            </a:r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Comercio y Negocios Digitales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Institución:  </a:t>
            </a:r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SATM — Sociedad de Aprendizaje y Tecnología de México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Fecha:  </a:t>
            </a:r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Mayo 2026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534095" y="640080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600" kern="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AGROPULSE  ·  2026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53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84CC16"/>
          </a:solidFill>
          <a:ln w="12700">
            <a:solidFill>
              <a:srgbClr val="84CC1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5486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800" kern="0" dirty="0">
                <a:solidFill>
                  <a:srgbClr val="84CC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86868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veremos hoy</a:t>
            </a:r>
            <a:endParaRPr lang="en-US" sz="4200" dirty="0"/>
          </a:p>
        </p:txBody>
      </p:sp>
      <p:sp>
        <p:nvSpPr>
          <p:cNvPr id="5" name="Shape 3"/>
          <p:cNvSpPr/>
          <p:nvPr/>
        </p:nvSpPr>
        <p:spPr>
          <a:xfrm>
            <a:off x="731520" y="1783080"/>
            <a:ext cx="731520" cy="54864"/>
          </a:xfrm>
          <a:prstGeom prst="rect">
            <a:avLst/>
          </a:prstGeom>
          <a:solidFill>
            <a:srgbClr val="84CC16"/>
          </a:solidFill>
          <a:ln w="12700">
            <a:solidFill>
              <a:srgbClr val="84CC1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219456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84CC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1417320" y="217627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417320" y="2441448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Pérdidas post-cosecha en LATAM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309360" y="219456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84CC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6995160" y="217627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Nuestra propuesta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995160" y="2441448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AgroPulse: misión, visión y valores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31520" y="310896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84CC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1417320" y="309067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 y solución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417320" y="3355848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TAM, SOM y los 4 pilares tecnológicos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309360" y="310896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84CC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6995160" y="309067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funciona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995160" y="3355848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sensor al consumidor final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31520" y="402336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84CC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1417320" y="400507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de negocio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417320" y="4270248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Marketplace, SaaS y servicios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309360" y="402336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84CC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6995160" y="400507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 tecnológico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995160" y="4270248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Next.js, IoT, ML y Vercel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31520" y="493776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84CC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2600" dirty="0"/>
          </a:p>
        </p:txBody>
      </p:sp>
      <p:sp>
        <p:nvSpPr>
          <p:cNvPr id="25" name="Text 23"/>
          <p:cNvSpPr/>
          <p:nvPr/>
        </p:nvSpPr>
        <p:spPr>
          <a:xfrm>
            <a:off x="1417320" y="491947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y resultados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1417320" y="5184648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Sitio en vivo y KPIs proyectados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309360" y="493776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84CC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2600" dirty="0"/>
          </a:p>
        </p:txBody>
      </p:sp>
      <p:sp>
        <p:nvSpPr>
          <p:cNvPr id="28" name="Text 26"/>
          <p:cNvSpPr/>
          <p:nvPr/>
        </p:nvSpPr>
        <p:spPr>
          <a:xfrm>
            <a:off x="6995160" y="491947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Impacto y equipo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6995160" y="5184648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ODS, fundadores y cierre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73152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AgroPulse · Proyecto final 2026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0820095" y="64922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A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82880" cy="182880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" y="3657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AGROPULSE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  ·  1/2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crisis global de desperdicio alimentario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457200" y="1691640"/>
            <a:ext cx="548640" cy="54864"/>
          </a:xfrm>
          <a:prstGeom prst="rect">
            <a:avLst/>
          </a:prstGeom>
          <a:solidFill>
            <a:srgbClr val="84CC16"/>
          </a:solidFill>
          <a:ln w="12700">
            <a:solidFill>
              <a:srgbClr val="84CC1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2103120"/>
            <a:ext cx="5943600" cy="4023360"/>
          </a:xfrm>
          <a:prstGeom prst="rect">
            <a:avLst/>
          </a:prstGeom>
          <a:solidFill>
            <a:srgbClr val="14532D"/>
          </a:solidFill>
          <a:ln w="12700">
            <a:solidFill>
              <a:srgbClr val="14532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2103120"/>
            <a:ext cx="109728" cy="4023360"/>
          </a:xfrm>
          <a:prstGeom prst="rect">
            <a:avLst/>
          </a:prstGeom>
          <a:solidFill>
            <a:srgbClr val="84CC16"/>
          </a:solidFill>
          <a:ln w="12700">
            <a:solidFill>
              <a:srgbClr val="84CC1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2377440"/>
            <a:ext cx="5486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30–40%</a:t>
            </a:r>
            <a:endParaRPr lang="en-US" sz="11000" dirty="0"/>
          </a:p>
        </p:txBody>
      </p:sp>
      <p:sp>
        <p:nvSpPr>
          <p:cNvPr id="10" name="Text 8"/>
          <p:cNvSpPr/>
          <p:nvPr/>
        </p:nvSpPr>
        <p:spPr>
          <a:xfrm>
            <a:off x="777240" y="411480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 producción agrícola se pierde post-cosecha en países en desarrollo.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77240" y="57150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FAO (2023) — State of Food and Agriculture: Food Loss and Waste.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766560" y="210312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MÉXICO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766560" y="2514600"/>
            <a:ext cx="4937760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766560" y="2514600"/>
            <a:ext cx="73152" cy="10515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995160" y="260604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20M+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6995160" y="310896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toneladas anuales de alimentos desperdiciados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766560" y="3749040"/>
            <a:ext cx="4937760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766560" y="3749040"/>
            <a:ext cx="73152" cy="10515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995160" y="384048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$491 MMM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6995160" y="434340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pesos mexicanos en pérdidas económicas / año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766560" y="4983480"/>
            <a:ext cx="4937760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0" y="4983480"/>
            <a:ext cx="73152" cy="10515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995160" y="507492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50,000+</a:t>
            </a:r>
            <a:endParaRPr lang="en-US" sz="3000" dirty="0"/>
          </a:p>
        </p:txBody>
      </p:sp>
      <p:sp>
        <p:nvSpPr>
          <p:cNvPr id="24" name="Text 22"/>
          <p:cNvSpPr/>
          <p:nvPr/>
        </p:nvSpPr>
        <p:spPr>
          <a:xfrm>
            <a:off x="6995160" y="557784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productores pequeños y medianos afectados en el Bajío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57200" y="6473952"/>
            <a:ext cx="11277295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AgroPulse · Proyecto final 2026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1094415" y="651052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A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82880" cy="182880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" y="3657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AGROPULSE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  ·  2/2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Seis fallas tecnológicas en la cadena agroalimentaria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457200" y="1691640"/>
            <a:ext cx="548640" cy="54864"/>
          </a:xfrm>
          <a:prstGeom prst="rect">
            <a:avLst/>
          </a:prstGeom>
          <a:solidFill>
            <a:srgbClr val="84CC16"/>
          </a:solidFill>
          <a:ln w="12700">
            <a:solidFill>
              <a:srgbClr val="84CC1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2103120"/>
            <a:ext cx="3721608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6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2103120"/>
            <a:ext cx="3721608" cy="73152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7240" y="2377440"/>
            <a:ext cx="640080" cy="640080"/>
          </a:xfrm>
          <a:prstGeom prst="ellipse">
            <a:avLst/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514600"/>
            <a:ext cx="365760" cy="36576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3584448" y="23317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84CC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777240" y="3063240"/>
            <a:ext cx="31729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visibilidad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777240" y="3383280"/>
            <a:ext cx="31729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Inventario perecedero a ciegas: temperatura, humedad y vida útil.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297680" y="2103120"/>
            <a:ext cx="3721608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6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4297680" y="2103120"/>
            <a:ext cx="3721608" cy="73152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617720" y="2377440"/>
            <a:ext cx="640080" cy="640080"/>
          </a:xfrm>
          <a:prstGeom prst="ellipse">
            <a:avLst/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2514600"/>
            <a:ext cx="365760" cy="365760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7424928" y="23317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84CC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4617720" y="3063240"/>
            <a:ext cx="31729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Cadena de frío rota</a:t>
            </a:r>
            <a:endParaRPr lang="en-US" sz="1600" dirty="0"/>
          </a:p>
        </p:txBody>
      </p:sp>
      <p:sp>
        <p:nvSpPr>
          <p:cNvPr id="20" name="Text 16"/>
          <p:cNvSpPr/>
          <p:nvPr/>
        </p:nvSpPr>
        <p:spPr>
          <a:xfrm>
            <a:off x="4617720" y="3383280"/>
            <a:ext cx="31729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Rupturas no detectadas que aceleran el deterioro del producto.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8138160" y="2103120"/>
            <a:ext cx="3721608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6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8138160" y="2103120"/>
            <a:ext cx="3721608" cy="73152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8458200" y="2377440"/>
            <a:ext cx="640080" cy="640080"/>
          </a:xfrm>
          <a:prstGeom prst="ellipse">
            <a:avLst/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0" y="2514600"/>
            <a:ext cx="365760" cy="365760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11265408" y="23317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84CC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200" dirty="0"/>
          </a:p>
        </p:txBody>
      </p:sp>
      <p:sp>
        <p:nvSpPr>
          <p:cNvPr id="26" name="Text 21"/>
          <p:cNvSpPr/>
          <p:nvPr/>
        </p:nvSpPr>
        <p:spPr>
          <a:xfrm>
            <a:off x="8458200" y="3063240"/>
            <a:ext cx="31729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pronóstico</a:t>
            </a:r>
            <a:endParaRPr lang="en-US" sz="1600" dirty="0"/>
          </a:p>
        </p:txBody>
      </p:sp>
      <p:sp>
        <p:nvSpPr>
          <p:cNvPr id="27" name="Text 22"/>
          <p:cNvSpPr/>
          <p:nvPr/>
        </p:nvSpPr>
        <p:spPr>
          <a:xfrm>
            <a:off x="8458200" y="3383280"/>
            <a:ext cx="31729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Productores cosechan sin datos de demanda regional o estacional.</a:t>
            </a:r>
            <a:endParaRPr lang="en-US" sz="1100" dirty="0"/>
          </a:p>
        </p:txBody>
      </p:sp>
      <p:sp>
        <p:nvSpPr>
          <p:cNvPr id="28" name="Shape 23"/>
          <p:cNvSpPr/>
          <p:nvPr/>
        </p:nvSpPr>
        <p:spPr>
          <a:xfrm>
            <a:off x="457200" y="4096512"/>
            <a:ext cx="3721608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6000"/>
              </a:srgbClr>
            </a:outerShdw>
          </a:effectLst>
        </p:spPr>
      </p:sp>
      <p:sp>
        <p:nvSpPr>
          <p:cNvPr id="29" name="Shape 24"/>
          <p:cNvSpPr/>
          <p:nvPr/>
        </p:nvSpPr>
        <p:spPr>
          <a:xfrm>
            <a:off x="457200" y="4096512"/>
            <a:ext cx="3721608" cy="73152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30" name="Shape 25"/>
          <p:cNvSpPr/>
          <p:nvPr/>
        </p:nvSpPr>
        <p:spPr>
          <a:xfrm>
            <a:off x="777240" y="4370832"/>
            <a:ext cx="640080" cy="640080"/>
          </a:xfrm>
          <a:prstGeom prst="ellipse">
            <a:avLst/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pic>
        <p:nvPicPr>
          <p:cNvPr id="3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4507992"/>
            <a:ext cx="365760" cy="365760"/>
          </a:xfrm>
          <a:prstGeom prst="rect">
            <a:avLst/>
          </a:prstGeom>
        </p:spPr>
      </p:pic>
      <p:sp>
        <p:nvSpPr>
          <p:cNvPr id="32" name="Text 26"/>
          <p:cNvSpPr/>
          <p:nvPr/>
        </p:nvSpPr>
        <p:spPr>
          <a:xfrm>
            <a:off x="3584448" y="43251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84CC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200" dirty="0"/>
          </a:p>
        </p:txBody>
      </p:sp>
      <p:sp>
        <p:nvSpPr>
          <p:cNvPr id="33" name="Text 27"/>
          <p:cNvSpPr/>
          <p:nvPr/>
        </p:nvSpPr>
        <p:spPr>
          <a:xfrm>
            <a:off x="777240" y="5056632"/>
            <a:ext cx="31729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Desconexión digital</a:t>
            </a:r>
            <a:endParaRPr lang="en-US" sz="1600" dirty="0"/>
          </a:p>
        </p:txBody>
      </p:sp>
      <p:sp>
        <p:nvSpPr>
          <p:cNvPr id="34" name="Text 28"/>
          <p:cNvSpPr/>
          <p:nvPr/>
        </p:nvSpPr>
        <p:spPr>
          <a:xfrm>
            <a:off x="777240" y="5376672"/>
            <a:ext cx="31729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Alta dependencia de intermediarios entre productor y comprador.</a:t>
            </a:r>
            <a:endParaRPr lang="en-US" sz="1100" dirty="0"/>
          </a:p>
        </p:txBody>
      </p:sp>
      <p:sp>
        <p:nvSpPr>
          <p:cNvPr id="35" name="Shape 29"/>
          <p:cNvSpPr/>
          <p:nvPr/>
        </p:nvSpPr>
        <p:spPr>
          <a:xfrm>
            <a:off x="4297680" y="4096512"/>
            <a:ext cx="3721608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6000"/>
              </a:srgbClr>
            </a:outerShdw>
          </a:effectLst>
        </p:spPr>
      </p:sp>
      <p:sp>
        <p:nvSpPr>
          <p:cNvPr id="36" name="Shape 30"/>
          <p:cNvSpPr/>
          <p:nvPr/>
        </p:nvSpPr>
        <p:spPr>
          <a:xfrm>
            <a:off x="4297680" y="4096512"/>
            <a:ext cx="3721608" cy="73152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37" name="Shape 31"/>
          <p:cNvSpPr/>
          <p:nvPr/>
        </p:nvSpPr>
        <p:spPr>
          <a:xfrm>
            <a:off x="4617720" y="4370832"/>
            <a:ext cx="640080" cy="640080"/>
          </a:xfrm>
          <a:prstGeom prst="ellipse">
            <a:avLst/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pic>
        <p:nvPicPr>
          <p:cNvPr id="3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54880" y="4507992"/>
            <a:ext cx="365760" cy="365760"/>
          </a:xfrm>
          <a:prstGeom prst="rect">
            <a:avLst/>
          </a:prstGeom>
        </p:spPr>
      </p:pic>
      <p:sp>
        <p:nvSpPr>
          <p:cNvPr id="39" name="Text 32"/>
          <p:cNvSpPr/>
          <p:nvPr/>
        </p:nvSpPr>
        <p:spPr>
          <a:xfrm>
            <a:off x="7424928" y="43251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84CC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200" dirty="0"/>
          </a:p>
        </p:txBody>
      </p:sp>
      <p:sp>
        <p:nvSpPr>
          <p:cNvPr id="40" name="Text 33"/>
          <p:cNvSpPr/>
          <p:nvPr/>
        </p:nvSpPr>
        <p:spPr>
          <a:xfrm>
            <a:off x="4617720" y="5056632"/>
            <a:ext cx="31729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Procesos manuales</a:t>
            </a:r>
            <a:endParaRPr lang="en-US" sz="1600" dirty="0"/>
          </a:p>
        </p:txBody>
      </p:sp>
      <p:sp>
        <p:nvSpPr>
          <p:cNvPr id="41" name="Text 34"/>
          <p:cNvSpPr/>
          <p:nvPr/>
        </p:nvSpPr>
        <p:spPr>
          <a:xfrm>
            <a:off x="4617720" y="5376672"/>
            <a:ext cx="31729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Hojas de cálculo, WhatsApp y libretas físicas para todo registro.</a:t>
            </a:r>
            <a:endParaRPr lang="en-US" sz="1100" dirty="0"/>
          </a:p>
        </p:txBody>
      </p:sp>
      <p:sp>
        <p:nvSpPr>
          <p:cNvPr id="42" name="Shape 35"/>
          <p:cNvSpPr/>
          <p:nvPr/>
        </p:nvSpPr>
        <p:spPr>
          <a:xfrm>
            <a:off x="8138160" y="4096512"/>
            <a:ext cx="3721608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6000"/>
              </a:srgbClr>
            </a:outerShdw>
          </a:effectLst>
        </p:spPr>
      </p:sp>
      <p:sp>
        <p:nvSpPr>
          <p:cNvPr id="43" name="Shape 36"/>
          <p:cNvSpPr/>
          <p:nvPr/>
        </p:nvSpPr>
        <p:spPr>
          <a:xfrm>
            <a:off x="8138160" y="4096512"/>
            <a:ext cx="3721608" cy="73152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44" name="Shape 37"/>
          <p:cNvSpPr/>
          <p:nvPr/>
        </p:nvSpPr>
        <p:spPr>
          <a:xfrm>
            <a:off x="8458200" y="4370832"/>
            <a:ext cx="640080" cy="640080"/>
          </a:xfrm>
          <a:prstGeom prst="ellipse">
            <a:avLst/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pic>
        <p:nvPicPr>
          <p:cNvPr id="4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95360" y="4507992"/>
            <a:ext cx="365760" cy="365760"/>
          </a:xfrm>
          <a:prstGeom prst="rect">
            <a:avLst/>
          </a:prstGeom>
        </p:spPr>
      </p:pic>
      <p:sp>
        <p:nvSpPr>
          <p:cNvPr id="46" name="Text 38"/>
          <p:cNvSpPr/>
          <p:nvPr/>
        </p:nvSpPr>
        <p:spPr>
          <a:xfrm>
            <a:off x="11265408" y="43251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84CC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200" dirty="0"/>
          </a:p>
        </p:txBody>
      </p:sp>
      <p:sp>
        <p:nvSpPr>
          <p:cNvPr id="47" name="Text 39"/>
          <p:cNvSpPr/>
          <p:nvPr/>
        </p:nvSpPr>
        <p:spPr>
          <a:xfrm>
            <a:off x="8458200" y="5056632"/>
            <a:ext cx="31729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trazabilidad</a:t>
            </a:r>
            <a:endParaRPr lang="en-US" sz="1600" dirty="0"/>
          </a:p>
        </p:txBody>
      </p:sp>
      <p:sp>
        <p:nvSpPr>
          <p:cNvPr id="48" name="Text 40"/>
          <p:cNvSpPr/>
          <p:nvPr/>
        </p:nvSpPr>
        <p:spPr>
          <a:xfrm>
            <a:off x="8458200" y="5376672"/>
            <a:ext cx="31729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Imposible verificar el origen y manejo hacia el consumidor final.</a:t>
            </a:r>
            <a:endParaRPr lang="en-US" sz="1100" dirty="0"/>
          </a:p>
        </p:txBody>
      </p:sp>
      <p:sp>
        <p:nvSpPr>
          <p:cNvPr id="49" name="Shape 41"/>
          <p:cNvSpPr/>
          <p:nvPr/>
        </p:nvSpPr>
        <p:spPr>
          <a:xfrm>
            <a:off x="457200" y="6473952"/>
            <a:ext cx="11277295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50" name="Text 42"/>
          <p:cNvSpPr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AgroPulse · Proyecto final 2026</a:t>
            </a:r>
            <a:endParaRPr lang="en-US" sz="900" dirty="0"/>
          </a:p>
        </p:txBody>
      </p:sp>
      <p:sp>
        <p:nvSpPr>
          <p:cNvPr id="51" name="Text 43"/>
          <p:cNvSpPr/>
          <p:nvPr/>
        </p:nvSpPr>
        <p:spPr>
          <a:xfrm>
            <a:off x="11094415" y="651052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A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82880" cy="182880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" y="3657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AGROPULSE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QUIÉNES SOMOS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AgroPulse — AgriTech con propósito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457200" y="1691640"/>
            <a:ext cx="548640" cy="54864"/>
          </a:xfrm>
          <a:prstGeom prst="rect">
            <a:avLst/>
          </a:prstGeom>
          <a:solidFill>
            <a:srgbClr val="84CC16"/>
          </a:solidFill>
          <a:ln w="12700">
            <a:solidFill>
              <a:srgbClr val="84CC1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2103120"/>
            <a:ext cx="4754880" cy="4023360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2103120"/>
            <a:ext cx="4754880" cy="548640"/>
          </a:xfrm>
          <a:prstGeom prst="rect">
            <a:avLst/>
          </a:prstGeom>
          <a:solidFill>
            <a:srgbClr val="14532D"/>
          </a:solidFill>
          <a:ln w="12700">
            <a:solidFill>
              <a:srgbClr val="14532D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31720" y="3108960"/>
            <a:ext cx="1005840" cy="100584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457200" y="42062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spc="6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AGROPULSE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457200" y="457200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84CC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Technologies S.A. de C.V.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5577840" y="2103120"/>
            <a:ext cx="6126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 E-business B2B que conecta a productores con compradores usando IoT, analítica predictiva y trazabilidad de punta a punta.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5577840" y="3611880"/>
            <a:ext cx="54864" cy="914400"/>
          </a:xfrm>
          <a:prstGeom prst="rect">
            <a:avLst/>
          </a:prstGeom>
          <a:solidFill>
            <a:srgbClr val="84CC16"/>
          </a:solidFill>
          <a:ln w="12700">
            <a:solidFill>
              <a:srgbClr val="84CC16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742432" y="3611880"/>
            <a:ext cx="18013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2024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5742432" y="4114800"/>
            <a:ext cx="1801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Año de fundación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7635240" y="3611880"/>
            <a:ext cx="54864" cy="914400"/>
          </a:xfrm>
          <a:prstGeom prst="rect">
            <a:avLst/>
          </a:prstGeom>
          <a:solidFill>
            <a:srgbClr val="84CC16"/>
          </a:solidFill>
          <a:ln w="12700">
            <a:solidFill>
              <a:srgbClr val="84CC16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799832" y="3611880"/>
            <a:ext cx="18013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Querétaro</a:t>
            </a:r>
            <a:endParaRPr lang="en-US" sz="2200" dirty="0"/>
          </a:p>
        </p:txBody>
      </p:sp>
      <p:sp>
        <p:nvSpPr>
          <p:cNvPr id="18" name="Text 15"/>
          <p:cNvSpPr/>
          <p:nvPr/>
        </p:nvSpPr>
        <p:spPr>
          <a:xfrm>
            <a:off x="7799832" y="4114800"/>
            <a:ext cx="1801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Sede en México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9692640" y="3611880"/>
            <a:ext cx="54864" cy="914400"/>
          </a:xfrm>
          <a:prstGeom prst="rect">
            <a:avLst/>
          </a:prstGeom>
          <a:solidFill>
            <a:srgbClr val="84CC16"/>
          </a:solidFill>
          <a:ln w="12700">
            <a:solidFill>
              <a:srgbClr val="84CC16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9857232" y="3611880"/>
            <a:ext cx="18013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AgriTech</a:t>
            </a:r>
            <a:endParaRPr lang="en-US" sz="2200" dirty="0"/>
          </a:p>
        </p:txBody>
      </p:sp>
      <p:sp>
        <p:nvSpPr>
          <p:cNvPr id="21" name="Text 18"/>
          <p:cNvSpPr/>
          <p:nvPr/>
        </p:nvSpPr>
        <p:spPr>
          <a:xfrm>
            <a:off x="9857232" y="4114800"/>
            <a:ext cx="1801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E-business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5577840" y="4800600"/>
            <a:ext cx="6126480" cy="13258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5577840" y="4800600"/>
            <a:ext cx="73152" cy="13258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806440" y="4892040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NUESTRA MISIÓN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5806440" y="5166360"/>
            <a:ext cx="5852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Reducir las pérdidas post-cosecha integrando IoT, ML y marketplace B2B en una sola plataforma accesible.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457200" y="6473952"/>
            <a:ext cx="11277295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AgroPulse · Proyecto final 2026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11094415" y="651052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A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82880" cy="182880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" y="3657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AGROPULSE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PROPÓSITO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Misión, Visión y Valores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457200" y="1691640"/>
            <a:ext cx="548640" cy="54864"/>
          </a:xfrm>
          <a:prstGeom prst="rect">
            <a:avLst/>
          </a:prstGeom>
          <a:solidFill>
            <a:srgbClr val="84CC16"/>
          </a:solidFill>
          <a:ln w="12700">
            <a:solidFill>
              <a:srgbClr val="84CC1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2194560"/>
            <a:ext cx="370332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6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2194560"/>
            <a:ext cx="3703320" cy="594360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2359152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6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MISIÓN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1760220" y="3063240"/>
            <a:ext cx="1097280" cy="1097280"/>
          </a:xfrm>
          <a:prstGeom prst="ellipse">
            <a:avLst/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88820" y="3291840"/>
            <a:ext cx="640080" cy="64008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822960" y="4389120"/>
            <a:ext cx="2971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Reducir las pérdidas post-cosecha de productores agrícolas mediante una plataforma E-business que integra IoT, analítica predictiva y marketplace B2B.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4279392" y="2194560"/>
            <a:ext cx="370332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6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279392" y="2194560"/>
            <a:ext cx="3703320" cy="5943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599432" y="2359152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6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VISIÓN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582412" y="3063240"/>
            <a:ext cx="1097280" cy="1097280"/>
          </a:xfrm>
          <a:prstGeom prst="ellipse">
            <a:avLst/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11012" y="3291840"/>
            <a:ext cx="640080" cy="640080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4645152" y="4389120"/>
            <a:ext cx="2971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 la plataforma líder en LATAM para la gestión inteligente de productos perecederos al 2030, eliminando un millón de toneladas de desperdicio alimentario al año.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8101584" y="2194560"/>
            <a:ext cx="370332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6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8101584" y="2194560"/>
            <a:ext cx="3703320" cy="594360"/>
          </a:xfrm>
          <a:prstGeom prst="rect">
            <a:avLst/>
          </a:prstGeom>
          <a:solidFill>
            <a:srgbClr val="84CC16"/>
          </a:solidFill>
          <a:ln w="12700">
            <a:solidFill>
              <a:srgbClr val="84CC16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8421624" y="2359152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6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VALORES</a:t>
            </a:r>
            <a:endParaRPr lang="en-US" sz="1400" dirty="0"/>
          </a:p>
        </p:txBody>
      </p:sp>
      <p:sp>
        <p:nvSpPr>
          <p:cNvPr id="22" name="Shape 18"/>
          <p:cNvSpPr/>
          <p:nvPr/>
        </p:nvSpPr>
        <p:spPr>
          <a:xfrm>
            <a:off x="9404604" y="3063240"/>
            <a:ext cx="1097280" cy="1097280"/>
          </a:xfrm>
          <a:prstGeom prst="ellipse">
            <a:avLst/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33204" y="3291840"/>
            <a:ext cx="640080" cy="640080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8467344" y="4389120"/>
            <a:ext cx="2971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Sostenibilidad · Transparencia · Innovación · Equidad · Trazabilidad.</a:t>
            </a:r>
            <a:endParaRPr lang="en-US" sz="1300" dirty="0"/>
          </a:p>
        </p:txBody>
      </p:sp>
      <p:sp>
        <p:nvSpPr>
          <p:cNvPr id="25" name="Shape 20"/>
          <p:cNvSpPr/>
          <p:nvPr/>
        </p:nvSpPr>
        <p:spPr>
          <a:xfrm>
            <a:off x="457200" y="6473952"/>
            <a:ext cx="11277295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AgroPulse · Proyecto final 2026</a:t>
            </a:r>
            <a:endParaRPr lang="en-US" sz="900" dirty="0"/>
          </a:p>
        </p:txBody>
      </p:sp>
      <p:sp>
        <p:nvSpPr>
          <p:cNvPr id="27" name="Text 22"/>
          <p:cNvSpPr/>
          <p:nvPr/>
        </p:nvSpPr>
        <p:spPr>
          <a:xfrm>
            <a:off x="11094415" y="651052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A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82880" cy="182880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" y="3657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AGROPULSE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MERCADO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oportunidad de USD 8,500M en LATAM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457200" y="1691640"/>
            <a:ext cx="548640" cy="54864"/>
          </a:xfrm>
          <a:prstGeom prst="rect">
            <a:avLst/>
          </a:prstGeom>
          <a:solidFill>
            <a:srgbClr val="84CC16"/>
          </a:solidFill>
          <a:ln w="12700">
            <a:solidFill>
              <a:srgbClr val="84CC1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2194560"/>
            <a:ext cx="457200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2194560"/>
            <a:ext cx="91440" cy="1188720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28600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 8,500M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731520" y="27432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 en LATAM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31520" y="301752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 total de pérdidas post-cosecha gestionable digitalmente.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3520440"/>
            <a:ext cx="457200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3520440"/>
            <a:ext cx="91440" cy="11887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361188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 120M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731520" y="406908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 en el Bajío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31520" y="434340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Querétaro, Guanajuato, Michoacán y Jalisco.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7200" y="4846320"/>
            <a:ext cx="457200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4846320"/>
            <a:ext cx="91440" cy="1188720"/>
          </a:xfrm>
          <a:prstGeom prst="rect">
            <a:avLst/>
          </a:prstGeom>
          <a:solidFill>
            <a:srgbClr val="84CC16"/>
          </a:solidFill>
          <a:ln w="12700">
            <a:solidFill>
              <a:srgbClr val="84CC1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1520" y="49377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4CC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50,000+</a:t>
            </a:r>
            <a:endParaRPr lang="en-US" sz="2800" dirty="0"/>
          </a:p>
        </p:txBody>
      </p:sp>
      <p:sp>
        <p:nvSpPr>
          <p:cNvPr id="20" name="Text 18"/>
          <p:cNvSpPr/>
          <p:nvPr/>
        </p:nvSpPr>
        <p:spPr>
          <a:xfrm>
            <a:off x="731520" y="539496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Productores objetivo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31520" y="566928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Pequeñas y medianas unidades de hortalizas, frutas y lácteos.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486400" y="2103120"/>
            <a:ext cx="6263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DISTRIBUCIÓN POR SEGMENTO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486400" y="2377440"/>
            <a:ext cx="6263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Productores objetivo por tipo de producto</a:t>
            </a:r>
            <a:endParaRPr lang="en-US" sz="1300" dirty="0"/>
          </a:p>
        </p:txBody>
      </p:sp>
      <p:graphicFrame>
        <p:nvGraphicFramePr>
          <p:cNvPr id="24" name="Chart 0" descr=""/>
          <p:cNvGraphicFramePr/>
          <p:nvPr/>
        </p:nvGraphicFramePr>
        <p:xfrm>
          <a:off x="5486400" y="2788920"/>
          <a:ext cx="6263640" cy="3246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Text 22"/>
          <p:cNvSpPr/>
          <p:nvPr/>
        </p:nvSpPr>
        <p:spPr>
          <a:xfrm>
            <a:off x="5486400" y="6080760"/>
            <a:ext cx="6263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Estimación con base en SIAP-SADER 2024 y diagnóstico interno.</a:t>
            </a:r>
            <a:endParaRPr lang="en-US" sz="900" dirty="0"/>
          </a:p>
        </p:txBody>
      </p:sp>
      <p:sp>
        <p:nvSpPr>
          <p:cNvPr id="26" name="Shape 23"/>
          <p:cNvSpPr/>
          <p:nvPr/>
        </p:nvSpPr>
        <p:spPr>
          <a:xfrm>
            <a:off x="457200" y="6473952"/>
            <a:ext cx="11277295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AgroPulse · Proyecto final 2026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11094415" y="651052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A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82880" cy="182880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" y="3657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AGROPULSE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SOLUCIÓN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Cuatro pilares tecnológicos en una sola plataforma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457200" y="1691640"/>
            <a:ext cx="548640" cy="54864"/>
          </a:xfrm>
          <a:prstGeom prst="rect">
            <a:avLst/>
          </a:prstGeom>
          <a:solidFill>
            <a:srgbClr val="84CC16"/>
          </a:solidFill>
          <a:ln w="12700">
            <a:solidFill>
              <a:srgbClr val="84CC1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2194560"/>
            <a:ext cx="2779776" cy="3931920"/>
          </a:xfrm>
          <a:prstGeom prst="rect">
            <a:avLst/>
          </a:prstGeom>
          <a:solidFill>
            <a:srgbClr val="14532D"/>
          </a:solidFill>
          <a:ln w="12700">
            <a:solidFill>
              <a:srgbClr val="14532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6016752"/>
            <a:ext cx="2779776" cy="109728"/>
          </a:xfrm>
          <a:prstGeom prst="rect">
            <a:avLst/>
          </a:prstGeom>
          <a:solidFill>
            <a:srgbClr val="84CC16"/>
          </a:solidFill>
          <a:ln w="12700">
            <a:solidFill>
              <a:srgbClr val="84CC1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252728" y="2697480"/>
            <a:ext cx="1188720" cy="1188720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81328" y="2926080"/>
            <a:ext cx="731520" cy="73152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685800" y="237744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4CC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731520" y="4114800"/>
            <a:ext cx="22311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IoT</a:t>
            </a:r>
            <a:endParaRPr lang="en-US" sz="2200" dirty="0"/>
          </a:p>
        </p:txBody>
      </p:sp>
      <p:sp>
        <p:nvSpPr>
          <p:cNvPr id="13" name="Shape 10"/>
          <p:cNvSpPr/>
          <p:nvPr/>
        </p:nvSpPr>
        <p:spPr>
          <a:xfrm>
            <a:off x="1618488" y="4709160"/>
            <a:ext cx="457200" cy="0"/>
          </a:xfrm>
          <a:prstGeom prst="line">
            <a:avLst/>
          </a:prstGeom>
          <a:noFill/>
          <a:ln w="19050">
            <a:solidFill>
              <a:srgbClr val="84CC16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31520" y="4892040"/>
            <a:ext cx="223113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Sensores LoRaWAN miden temperatura, humedad y vida útil en tiempo real.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3346704" y="2194560"/>
            <a:ext cx="2779776" cy="3931920"/>
          </a:xfrm>
          <a:prstGeom prst="rect">
            <a:avLst/>
          </a:prstGeom>
          <a:solidFill>
            <a:srgbClr val="14532D"/>
          </a:solidFill>
          <a:ln w="12700">
            <a:solidFill>
              <a:srgbClr val="14532D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3346704" y="6016752"/>
            <a:ext cx="2779776" cy="109728"/>
          </a:xfrm>
          <a:prstGeom prst="rect">
            <a:avLst/>
          </a:prstGeom>
          <a:solidFill>
            <a:srgbClr val="84CC16"/>
          </a:solidFill>
          <a:ln w="12700">
            <a:solidFill>
              <a:srgbClr val="84CC16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142232" y="2697480"/>
            <a:ext cx="1188720" cy="1188720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70832" y="2926080"/>
            <a:ext cx="731520" cy="731520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3575304" y="237744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4CC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400" dirty="0"/>
          </a:p>
        </p:txBody>
      </p:sp>
      <p:sp>
        <p:nvSpPr>
          <p:cNvPr id="20" name="Text 16"/>
          <p:cNvSpPr/>
          <p:nvPr/>
        </p:nvSpPr>
        <p:spPr>
          <a:xfrm>
            <a:off x="3621024" y="4114800"/>
            <a:ext cx="22311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Learning</a:t>
            </a:r>
            <a:endParaRPr lang="en-US" sz="2200" dirty="0"/>
          </a:p>
        </p:txBody>
      </p:sp>
      <p:sp>
        <p:nvSpPr>
          <p:cNvPr id="21" name="Shape 17"/>
          <p:cNvSpPr/>
          <p:nvPr/>
        </p:nvSpPr>
        <p:spPr>
          <a:xfrm>
            <a:off x="4507992" y="4709160"/>
            <a:ext cx="457200" cy="0"/>
          </a:xfrm>
          <a:prstGeom prst="line">
            <a:avLst/>
          </a:prstGeom>
          <a:noFill/>
          <a:ln w="19050">
            <a:solidFill>
              <a:srgbClr val="84CC1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3621024" y="4892040"/>
            <a:ext cx="223113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Modelos XGBoost y Prophet predicen demanda por región y temporada.</a:t>
            </a:r>
            <a:endParaRPr lang="en-US" sz="1200" dirty="0"/>
          </a:p>
        </p:txBody>
      </p:sp>
      <p:sp>
        <p:nvSpPr>
          <p:cNvPr id="23" name="Shape 19"/>
          <p:cNvSpPr/>
          <p:nvPr/>
        </p:nvSpPr>
        <p:spPr>
          <a:xfrm>
            <a:off x="6236208" y="2194560"/>
            <a:ext cx="2779776" cy="3931920"/>
          </a:xfrm>
          <a:prstGeom prst="rect">
            <a:avLst/>
          </a:prstGeom>
          <a:solidFill>
            <a:srgbClr val="14532D"/>
          </a:solidFill>
          <a:ln w="12700">
            <a:solidFill>
              <a:srgbClr val="14532D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6236208" y="6016752"/>
            <a:ext cx="2779776" cy="109728"/>
          </a:xfrm>
          <a:prstGeom prst="rect">
            <a:avLst/>
          </a:prstGeom>
          <a:solidFill>
            <a:srgbClr val="84CC16"/>
          </a:solidFill>
          <a:ln w="12700">
            <a:solidFill>
              <a:srgbClr val="84CC16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7031736" y="2697480"/>
            <a:ext cx="1188720" cy="1188720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pic>
        <p:nvPicPr>
          <p:cNvPr id="2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0336" y="2926080"/>
            <a:ext cx="731520" cy="731520"/>
          </a:xfrm>
          <a:prstGeom prst="rect">
            <a:avLst/>
          </a:prstGeom>
        </p:spPr>
      </p:pic>
      <p:sp>
        <p:nvSpPr>
          <p:cNvPr id="27" name="Text 22"/>
          <p:cNvSpPr/>
          <p:nvPr/>
        </p:nvSpPr>
        <p:spPr>
          <a:xfrm>
            <a:off x="6464808" y="237744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4CC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400" dirty="0"/>
          </a:p>
        </p:txBody>
      </p:sp>
      <p:sp>
        <p:nvSpPr>
          <p:cNvPr id="28" name="Text 23"/>
          <p:cNvSpPr/>
          <p:nvPr/>
        </p:nvSpPr>
        <p:spPr>
          <a:xfrm>
            <a:off x="6510528" y="4114800"/>
            <a:ext cx="22311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 B2B</a:t>
            </a:r>
            <a:endParaRPr lang="en-US" sz="2200" dirty="0"/>
          </a:p>
        </p:txBody>
      </p:sp>
      <p:sp>
        <p:nvSpPr>
          <p:cNvPr id="29" name="Shape 24"/>
          <p:cNvSpPr/>
          <p:nvPr/>
        </p:nvSpPr>
        <p:spPr>
          <a:xfrm>
            <a:off x="7397496" y="4709160"/>
            <a:ext cx="457200" cy="0"/>
          </a:xfrm>
          <a:prstGeom prst="line">
            <a:avLst/>
          </a:prstGeom>
          <a:noFill/>
          <a:ln w="19050">
            <a:solidFill>
              <a:srgbClr val="84CC16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6510528" y="4892040"/>
            <a:ext cx="223113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Matching automático oferta-demanda priorizando productos con menor vida útil.</a:t>
            </a:r>
            <a:endParaRPr lang="en-US" sz="1200" dirty="0"/>
          </a:p>
        </p:txBody>
      </p:sp>
      <p:sp>
        <p:nvSpPr>
          <p:cNvPr id="31" name="Shape 26"/>
          <p:cNvSpPr/>
          <p:nvPr/>
        </p:nvSpPr>
        <p:spPr>
          <a:xfrm>
            <a:off x="9125712" y="2194560"/>
            <a:ext cx="2779776" cy="3931920"/>
          </a:xfrm>
          <a:prstGeom prst="rect">
            <a:avLst/>
          </a:prstGeom>
          <a:solidFill>
            <a:srgbClr val="14532D"/>
          </a:solidFill>
          <a:ln w="12700">
            <a:solidFill>
              <a:srgbClr val="14532D"/>
            </a:solidFill>
            <a:prstDash val="solid"/>
          </a:ln>
        </p:spPr>
      </p:sp>
      <p:sp>
        <p:nvSpPr>
          <p:cNvPr id="32" name="Shape 27"/>
          <p:cNvSpPr/>
          <p:nvPr/>
        </p:nvSpPr>
        <p:spPr>
          <a:xfrm>
            <a:off x="9125712" y="6016752"/>
            <a:ext cx="2779776" cy="109728"/>
          </a:xfrm>
          <a:prstGeom prst="rect">
            <a:avLst/>
          </a:prstGeom>
          <a:solidFill>
            <a:srgbClr val="84CC16"/>
          </a:solidFill>
          <a:ln w="12700">
            <a:solidFill>
              <a:srgbClr val="84CC16"/>
            </a:solidFill>
            <a:prstDash val="solid"/>
          </a:ln>
        </p:spPr>
      </p:sp>
      <p:sp>
        <p:nvSpPr>
          <p:cNvPr id="33" name="Shape 28"/>
          <p:cNvSpPr/>
          <p:nvPr/>
        </p:nvSpPr>
        <p:spPr>
          <a:xfrm>
            <a:off x="9921240" y="2697480"/>
            <a:ext cx="1188720" cy="1188720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pic>
        <p:nvPicPr>
          <p:cNvPr id="3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2926080"/>
            <a:ext cx="731520" cy="731520"/>
          </a:xfrm>
          <a:prstGeom prst="rect">
            <a:avLst/>
          </a:prstGeom>
        </p:spPr>
      </p:pic>
      <p:sp>
        <p:nvSpPr>
          <p:cNvPr id="35" name="Text 29"/>
          <p:cNvSpPr/>
          <p:nvPr/>
        </p:nvSpPr>
        <p:spPr>
          <a:xfrm>
            <a:off x="9354312" y="237744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4CC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400" dirty="0"/>
          </a:p>
        </p:txBody>
      </p:sp>
      <p:sp>
        <p:nvSpPr>
          <p:cNvPr id="36" name="Text 30"/>
          <p:cNvSpPr/>
          <p:nvPr/>
        </p:nvSpPr>
        <p:spPr>
          <a:xfrm>
            <a:off x="9400032" y="4114800"/>
            <a:ext cx="22311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Trazabilidad</a:t>
            </a:r>
            <a:endParaRPr lang="en-US" sz="2200" dirty="0"/>
          </a:p>
        </p:txBody>
      </p:sp>
      <p:sp>
        <p:nvSpPr>
          <p:cNvPr id="37" name="Shape 31"/>
          <p:cNvSpPr/>
          <p:nvPr/>
        </p:nvSpPr>
        <p:spPr>
          <a:xfrm>
            <a:off x="10287000" y="4709160"/>
            <a:ext cx="457200" cy="0"/>
          </a:xfrm>
          <a:prstGeom prst="line">
            <a:avLst/>
          </a:prstGeom>
          <a:noFill/>
          <a:ln w="19050">
            <a:solidFill>
              <a:srgbClr val="84CC16"/>
            </a:solidFill>
            <a:prstDash val="solid"/>
          </a:ln>
        </p:spPr>
      </p:sp>
      <p:sp>
        <p:nvSpPr>
          <p:cNvPr id="38" name="Text 32"/>
          <p:cNvSpPr/>
          <p:nvPr/>
        </p:nvSpPr>
        <p:spPr>
          <a:xfrm>
            <a:off x="9400032" y="4892040"/>
            <a:ext cx="223113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Historia completa del lote vía QR público para el consumidor final.</a:t>
            </a:r>
            <a:endParaRPr lang="en-US" sz="1200" dirty="0"/>
          </a:p>
        </p:txBody>
      </p:sp>
      <p:sp>
        <p:nvSpPr>
          <p:cNvPr id="39" name="Shape 33"/>
          <p:cNvSpPr/>
          <p:nvPr/>
        </p:nvSpPr>
        <p:spPr>
          <a:xfrm>
            <a:off x="457200" y="6473952"/>
            <a:ext cx="11277295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40" name="Text 34"/>
          <p:cNvSpPr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AgroPulse · Proyecto final 2026</a:t>
            </a:r>
            <a:endParaRPr lang="en-US" sz="900" dirty="0"/>
          </a:p>
        </p:txBody>
      </p:sp>
      <p:sp>
        <p:nvSpPr>
          <p:cNvPr id="41" name="Text 35"/>
          <p:cNvSpPr/>
          <p:nvPr/>
        </p:nvSpPr>
        <p:spPr>
          <a:xfrm>
            <a:off x="11094415" y="651052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A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82880" cy="182880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" y="3657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AGROPULSE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FUNCIONA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campo al consumidor en 5 pasos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457200" y="1691640"/>
            <a:ext cx="548640" cy="54864"/>
          </a:xfrm>
          <a:prstGeom prst="rect">
            <a:avLst/>
          </a:prstGeom>
          <a:solidFill>
            <a:srgbClr val="84CC16"/>
          </a:solidFill>
          <a:ln w="12700">
            <a:solidFill>
              <a:srgbClr val="84CC1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2377440"/>
            <a:ext cx="2145731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072866" y="2651760"/>
            <a:ext cx="914400" cy="914400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72866" y="265176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594360" y="3749040"/>
            <a:ext cx="1871411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Sensores IoT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1347186" y="4206240"/>
            <a:ext cx="365760" cy="0"/>
          </a:xfrm>
          <a:prstGeom prst="line">
            <a:avLst/>
          </a:prstGeom>
          <a:noFill/>
          <a:ln w="25400">
            <a:solidFill>
              <a:srgbClr val="84CC1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4343400"/>
            <a:ext cx="1779971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productor instala sensores LoRaWAN en almacén y transporte.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602931" y="3749040"/>
            <a:ext cx="164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84CC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2740091" y="2377440"/>
            <a:ext cx="2145731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355757" y="2651760"/>
            <a:ext cx="914400" cy="914400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355757" y="265176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2877251" y="3749040"/>
            <a:ext cx="1871411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a la nube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3630077" y="4206240"/>
            <a:ext cx="365760" cy="0"/>
          </a:xfrm>
          <a:prstGeom prst="line">
            <a:avLst/>
          </a:prstGeom>
          <a:noFill/>
          <a:ln w="25400">
            <a:solidFill>
              <a:srgbClr val="84CC1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922971" y="4343400"/>
            <a:ext cx="1779971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Lecturas en tiempo real fluyen al dashboard AgroPulse.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885822" y="3749040"/>
            <a:ext cx="164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84CC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</a:t>
            </a:r>
            <a:endParaRPr lang="en-US" sz="2200" dirty="0"/>
          </a:p>
        </p:txBody>
      </p:sp>
      <p:sp>
        <p:nvSpPr>
          <p:cNvPr id="21" name="Shape 19"/>
          <p:cNvSpPr/>
          <p:nvPr/>
        </p:nvSpPr>
        <p:spPr>
          <a:xfrm>
            <a:off x="5022982" y="2377440"/>
            <a:ext cx="2145731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5638648" y="2651760"/>
            <a:ext cx="914400" cy="914400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638648" y="265176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5160142" y="3749040"/>
            <a:ext cx="1871411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predice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5912968" y="4206240"/>
            <a:ext cx="365760" cy="0"/>
          </a:xfrm>
          <a:prstGeom prst="line">
            <a:avLst/>
          </a:prstGeom>
          <a:noFill/>
          <a:ln w="25400">
            <a:solidFill>
              <a:srgbClr val="84CC1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205862" y="4343400"/>
            <a:ext cx="1779971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Modelos pronostican demanda y alertan sobre mermas inminentes.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7168713" y="3749040"/>
            <a:ext cx="164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84CC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</a:t>
            </a:r>
            <a:endParaRPr lang="en-US" sz="2200" dirty="0"/>
          </a:p>
        </p:txBody>
      </p:sp>
      <p:sp>
        <p:nvSpPr>
          <p:cNvPr id="28" name="Shape 26"/>
          <p:cNvSpPr/>
          <p:nvPr/>
        </p:nvSpPr>
        <p:spPr>
          <a:xfrm>
            <a:off x="7305873" y="2377440"/>
            <a:ext cx="2145731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5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7921539" y="2651760"/>
            <a:ext cx="914400" cy="914400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921539" y="265176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2400" dirty="0"/>
          </a:p>
        </p:txBody>
      </p:sp>
      <p:sp>
        <p:nvSpPr>
          <p:cNvPr id="31" name="Text 29"/>
          <p:cNvSpPr/>
          <p:nvPr/>
        </p:nvSpPr>
        <p:spPr>
          <a:xfrm>
            <a:off x="7443033" y="3749040"/>
            <a:ext cx="1871411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</a:t>
            </a:r>
            <a:endParaRPr lang="en-US" sz="1500" dirty="0"/>
          </a:p>
        </p:txBody>
      </p:sp>
      <p:sp>
        <p:nvSpPr>
          <p:cNvPr id="32" name="Shape 30"/>
          <p:cNvSpPr/>
          <p:nvPr/>
        </p:nvSpPr>
        <p:spPr>
          <a:xfrm>
            <a:off x="8195859" y="4206240"/>
            <a:ext cx="365760" cy="0"/>
          </a:xfrm>
          <a:prstGeom prst="line">
            <a:avLst/>
          </a:prstGeom>
          <a:noFill/>
          <a:ln w="25400">
            <a:solidFill>
              <a:srgbClr val="84CC1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488753" y="4343400"/>
            <a:ext cx="1779971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automático con compradores priorizando vida útil.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9451604" y="3749040"/>
            <a:ext cx="164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84CC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</a:t>
            </a:r>
            <a:endParaRPr lang="en-US" sz="2200" dirty="0"/>
          </a:p>
        </p:txBody>
      </p:sp>
      <p:sp>
        <p:nvSpPr>
          <p:cNvPr id="35" name="Shape 33"/>
          <p:cNvSpPr/>
          <p:nvPr/>
        </p:nvSpPr>
        <p:spPr>
          <a:xfrm>
            <a:off x="9588764" y="2377440"/>
            <a:ext cx="2145731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5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10204430" y="2651760"/>
            <a:ext cx="914400" cy="914400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0204430" y="265176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2400" dirty="0"/>
          </a:p>
        </p:txBody>
      </p:sp>
      <p:sp>
        <p:nvSpPr>
          <p:cNvPr id="38" name="Text 36"/>
          <p:cNvSpPr/>
          <p:nvPr/>
        </p:nvSpPr>
        <p:spPr>
          <a:xfrm>
            <a:off x="9725924" y="3749040"/>
            <a:ext cx="1871411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Trazabilidad</a:t>
            </a:r>
            <a:endParaRPr lang="en-US" sz="1500" dirty="0"/>
          </a:p>
        </p:txBody>
      </p:sp>
      <p:sp>
        <p:nvSpPr>
          <p:cNvPr id="39" name="Shape 37"/>
          <p:cNvSpPr/>
          <p:nvPr/>
        </p:nvSpPr>
        <p:spPr>
          <a:xfrm>
            <a:off x="10478750" y="4206240"/>
            <a:ext cx="365760" cy="0"/>
          </a:xfrm>
          <a:prstGeom prst="line">
            <a:avLst/>
          </a:prstGeom>
          <a:noFill/>
          <a:ln w="25400">
            <a:solidFill>
              <a:srgbClr val="84CC16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771644" y="4343400"/>
            <a:ext cx="1779971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comprador recibe el lote con QR público de historia completa.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457200" y="571500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800" kern="0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 →  INTELIGENCIA  →  COMERCIO  →  CONFIANZA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457200" y="6473952"/>
            <a:ext cx="11277295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AgroPulse · Proyecto final 2026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11094415" y="651052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A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82880" cy="182880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" y="3657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AGROPULSE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PROPUESTA DE VALOR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Beneficios tangibles para ambos lados del mercado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457200" y="1691640"/>
            <a:ext cx="548640" cy="54864"/>
          </a:xfrm>
          <a:prstGeom prst="rect">
            <a:avLst/>
          </a:prstGeom>
          <a:solidFill>
            <a:srgbClr val="84CC16"/>
          </a:solidFill>
          <a:ln w="12700">
            <a:solidFill>
              <a:srgbClr val="84CC1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2194560"/>
            <a:ext cx="5669280" cy="4114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6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2194560"/>
            <a:ext cx="5669280" cy="685800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2331720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PRODUCTORES</a:t>
            </a:r>
            <a:endParaRPr lang="en-US" sz="18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3200400"/>
            <a:ext cx="274320" cy="27432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188720" y="310896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Reducción de 30% en pérdidas post-cosecha</a:t>
            </a:r>
            <a:endParaRPr lang="en-US" sz="1400" dirty="0"/>
          </a:p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794760"/>
            <a:ext cx="274320" cy="27432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188720" y="37033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+25% margen al eliminar coyotes</a:t>
            </a:r>
            <a:endParaRPr lang="en-US" sz="14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389120"/>
            <a:ext cx="274320" cy="27432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188720" y="42976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Predicción de demanda por región y temporada</a:t>
            </a:r>
            <a:endParaRPr lang="en-US" sz="14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4983480"/>
            <a:ext cx="274320" cy="27432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1188720" y="48920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Acceso directo a retail y HORECA</a:t>
            </a:r>
            <a:endParaRPr lang="en-US" sz="1400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5577840"/>
            <a:ext cx="274320" cy="27432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1188720" y="54864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Reportes automáticos para certificaciones</a:t>
            </a:r>
            <a:endParaRPr lang="en-US" sz="1400" dirty="0"/>
          </a:p>
        </p:txBody>
      </p:sp>
      <p:sp>
        <p:nvSpPr>
          <p:cNvPr id="20" name="Shape 13"/>
          <p:cNvSpPr/>
          <p:nvPr/>
        </p:nvSpPr>
        <p:spPr>
          <a:xfrm>
            <a:off x="6492240" y="2194560"/>
            <a:ext cx="5669280" cy="4114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6000"/>
              </a:srgbClr>
            </a:outerShdw>
          </a:effectLst>
        </p:spPr>
      </p:sp>
      <p:sp>
        <p:nvSpPr>
          <p:cNvPr id="21" name="Shape 14"/>
          <p:cNvSpPr/>
          <p:nvPr/>
        </p:nvSpPr>
        <p:spPr>
          <a:xfrm>
            <a:off x="6492240" y="2194560"/>
            <a:ext cx="5669280" cy="6858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2" name="Text 15"/>
          <p:cNvSpPr/>
          <p:nvPr/>
        </p:nvSpPr>
        <p:spPr>
          <a:xfrm>
            <a:off x="6675120" y="2331720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COMPRADORES</a:t>
            </a:r>
            <a:endParaRPr lang="en-US" sz="1800" dirty="0"/>
          </a:p>
        </p:txBody>
      </p:sp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12280" y="3200400"/>
            <a:ext cx="274320" cy="274320"/>
          </a:xfrm>
          <a:prstGeom prst="rect">
            <a:avLst/>
          </a:prstGeom>
        </p:spPr>
      </p:pic>
      <p:sp>
        <p:nvSpPr>
          <p:cNvPr id="24" name="Text 16"/>
          <p:cNvSpPr/>
          <p:nvPr/>
        </p:nvSpPr>
        <p:spPr>
          <a:xfrm>
            <a:off x="7223760" y="310896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Productos frescos verificados por IoT</a:t>
            </a:r>
            <a:endParaRPr lang="en-US" sz="1400" dirty="0"/>
          </a:p>
        </p:txBody>
      </p:sp>
      <p:pic>
        <p:nvPicPr>
          <p:cNvPr id="25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12280" y="3794760"/>
            <a:ext cx="274320" cy="274320"/>
          </a:xfrm>
          <a:prstGeom prst="rect">
            <a:avLst/>
          </a:prstGeom>
        </p:spPr>
      </p:pic>
      <p:sp>
        <p:nvSpPr>
          <p:cNvPr id="26" name="Text 17"/>
          <p:cNvSpPr/>
          <p:nvPr/>
        </p:nvSpPr>
        <p:spPr>
          <a:xfrm>
            <a:off x="7223760" y="37033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Trazabilidad QR de punta a punta</a:t>
            </a:r>
            <a:endParaRPr lang="en-US" sz="1400" dirty="0"/>
          </a:p>
        </p:txBody>
      </p:sp>
      <p:pic>
        <p:nvPicPr>
          <p:cNvPr id="2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12280" y="4389120"/>
            <a:ext cx="274320" cy="274320"/>
          </a:xfrm>
          <a:prstGeom prst="rect">
            <a:avLst/>
          </a:prstGeom>
        </p:spPr>
      </p:pic>
      <p:sp>
        <p:nvSpPr>
          <p:cNvPr id="28" name="Text 18"/>
          <p:cNvSpPr/>
          <p:nvPr/>
        </p:nvSpPr>
        <p:spPr>
          <a:xfrm>
            <a:off x="7223760" y="42976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Cadena de frío garantizada y monitoreada</a:t>
            </a:r>
            <a:endParaRPr lang="en-US" sz="1400" dirty="0"/>
          </a:p>
        </p:txBody>
      </p:sp>
      <p:pic>
        <p:nvPicPr>
          <p:cNvPr id="29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12280" y="4983480"/>
            <a:ext cx="274320" cy="274320"/>
          </a:xfrm>
          <a:prstGeom prst="rect">
            <a:avLst/>
          </a:prstGeom>
        </p:spPr>
      </p:pic>
      <p:sp>
        <p:nvSpPr>
          <p:cNvPr id="30" name="Text 19"/>
          <p:cNvSpPr/>
          <p:nvPr/>
        </p:nvSpPr>
        <p:spPr>
          <a:xfrm>
            <a:off x="7223760" y="48920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Catálogo B2B en tiempo real</a:t>
            </a:r>
            <a:endParaRPr lang="en-US" sz="1400" dirty="0"/>
          </a:p>
        </p:txBody>
      </p:sp>
      <p:pic>
        <p:nvPicPr>
          <p:cNvPr id="31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812280" y="5577840"/>
            <a:ext cx="274320" cy="274320"/>
          </a:xfrm>
          <a:prstGeom prst="rect">
            <a:avLst/>
          </a:prstGeom>
        </p:spPr>
      </p:pic>
      <p:sp>
        <p:nvSpPr>
          <p:cNvPr id="32" name="Text 20"/>
          <p:cNvSpPr/>
          <p:nvPr/>
        </p:nvSpPr>
        <p:spPr>
          <a:xfrm>
            <a:off x="7223760" y="54864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Pago seguro y facturación digital</a:t>
            </a:r>
            <a:endParaRPr lang="en-US" sz="1400" dirty="0"/>
          </a:p>
        </p:txBody>
      </p:sp>
      <p:sp>
        <p:nvSpPr>
          <p:cNvPr id="33" name="Shape 21"/>
          <p:cNvSpPr/>
          <p:nvPr/>
        </p:nvSpPr>
        <p:spPr>
          <a:xfrm>
            <a:off x="457200" y="6473952"/>
            <a:ext cx="11277295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34" name="Text 22"/>
          <p:cNvSpPr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AgroPulse · Proyecto final 2026</a:t>
            </a:r>
            <a:endParaRPr lang="en-US" sz="900" dirty="0"/>
          </a:p>
        </p:txBody>
      </p:sp>
      <p:sp>
        <p:nvSpPr>
          <p:cNvPr id="35" name="Text 23"/>
          <p:cNvSpPr/>
          <p:nvPr/>
        </p:nvSpPr>
        <p:spPr>
          <a:xfrm>
            <a:off x="11094415" y="651052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A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82880" cy="182880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" y="3657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AGROPULSE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DE NEGOCIO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Cuatro fuentes de ingreso, una sola plataforma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457200" y="1691640"/>
            <a:ext cx="548640" cy="54864"/>
          </a:xfrm>
          <a:prstGeom prst="rect">
            <a:avLst/>
          </a:prstGeom>
          <a:solidFill>
            <a:srgbClr val="84CC16"/>
          </a:solidFill>
          <a:ln w="12700">
            <a:solidFill>
              <a:srgbClr val="84CC1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2194560"/>
            <a:ext cx="2779776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6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2194560"/>
            <a:ext cx="2779776" cy="1371600"/>
          </a:xfrm>
          <a:prstGeom prst="rect">
            <a:avLst/>
          </a:prstGeom>
          <a:solidFill>
            <a:srgbClr val="14532D"/>
          </a:solidFill>
          <a:ln w="12700">
            <a:solidFill>
              <a:srgbClr val="14532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3566160"/>
            <a:ext cx="2779776" cy="54864"/>
          </a:xfrm>
          <a:prstGeom prst="rect">
            <a:avLst/>
          </a:prstGeom>
          <a:solidFill>
            <a:srgbClr val="84CC16"/>
          </a:solidFill>
          <a:ln w="12700">
            <a:solidFill>
              <a:srgbClr val="84CC16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81328" y="2468880"/>
            <a:ext cx="731520" cy="73152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685800" y="23774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4CC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40080" y="3749040"/>
            <a:ext cx="24140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640080" y="4206240"/>
            <a:ext cx="24140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4% comisión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1618488" y="4709160"/>
            <a:ext cx="4572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85800" y="4846320"/>
            <a:ext cx="232257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Sobre cada venta cerrada productor-comprador.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3346704" y="2194560"/>
            <a:ext cx="2779776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6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3346704" y="2194560"/>
            <a:ext cx="2779776" cy="1371600"/>
          </a:xfrm>
          <a:prstGeom prst="rect">
            <a:avLst/>
          </a:prstGeom>
          <a:solidFill>
            <a:srgbClr val="14532D"/>
          </a:solidFill>
          <a:ln w="12700">
            <a:solidFill>
              <a:srgbClr val="14532D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3346704" y="3566160"/>
            <a:ext cx="2779776" cy="54864"/>
          </a:xfrm>
          <a:prstGeom prst="rect">
            <a:avLst/>
          </a:prstGeom>
          <a:solidFill>
            <a:srgbClr val="84CC16"/>
          </a:solidFill>
          <a:ln w="12700">
            <a:solidFill>
              <a:srgbClr val="84CC16"/>
            </a:solidFill>
            <a:prstDash val="solid"/>
          </a:ln>
        </p:spPr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70832" y="2468880"/>
            <a:ext cx="731520" cy="731520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3575304" y="23774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4CC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200" dirty="0"/>
          </a:p>
        </p:txBody>
      </p:sp>
      <p:sp>
        <p:nvSpPr>
          <p:cNvPr id="21" name="Text 17"/>
          <p:cNvSpPr/>
          <p:nvPr/>
        </p:nvSpPr>
        <p:spPr>
          <a:xfrm>
            <a:off x="3529584" y="3749040"/>
            <a:ext cx="24140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SaaS IoT</a:t>
            </a:r>
            <a:endParaRPr lang="en-US" sz="1800" dirty="0"/>
          </a:p>
        </p:txBody>
      </p:sp>
      <p:sp>
        <p:nvSpPr>
          <p:cNvPr id="22" name="Text 18"/>
          <p:cNvSpPr/>
          <p:nvPr/>
        </p:nvSpPr>
        <p:spPr>
          <a:xfrm>
            <a:off x="3529584" y="4206240"/>
            <a:ext cx="24140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$1,490–$3,990 MXN/mes</a:t>
            </a:r>
            <a:endParaRPr lang="en-US" sz="1300" dirty="0"/>
          </a:p>
        </p:txBody>
      </p:sp>
      <p:sp>
        <p:nvSpPr>
          <p:cNvPr id="23" name="Shape 19"/>
          <p:cNvSpPr/>
          <p:nvPr/>
        </p:nvSpPr>
        <p:spPr>
          <a:xfrm>
            <a:off x="4507992" y="4709160"/>
            <a:ext cx="4572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3575304" y="4846320"/>
            <a:ext cx="232257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planes con sensores y analítica incluidos.</a:t>
            </a:r>
            <a:endParaRPr lang="en-US" sz="1200" dirty="0"/>
          </a:p>
        </p:txBody>
      </p:sp>
      <p:sp>
        <p:nvSpPr>
          <p:cNvPr id="25" name="Shape 21"/>
          <p:cNvSpPr/>
          <p:nvPr/>
        </p:nvSpPr>
        <p:spPr>
          <a:xfrm>
            <a:off x="6236208" y="2194560"/>
            <a:ext cx="2779776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6000"/>
              </a:srgbClr>
            </a:outerShdw>
          </a:effectLst>
        </p:spPr>
      </p:sp>
      <p:sp>
        <p:nvSpPr>
          <p:cNvPr id="26" name="Shape 22"/>
          <p:cNvSpPr/>
          <p:nvPr/>
        </p:nvSpPr>
        <p:spPr>
          <a:xfrm>
            <a:off x="6236208" y="2194560"/>
            <a:ext cx="2779776" cy="1371600"/>
          </a:xfrm>
          <a:prstGeom prst="rect">
            <a:avLst/>
          </a:prstGeom>
          <a:solidFill>
            <a:srgbClr val="14532D"/>
          </a:solidFill>
          <a:ln w="12700">
            <a:solidFill>
              <a:srgbClr val="14532D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6236208" y="3566160"/>
            <a:ext cx="2779776" cy="54864"/>
          </a:xfrm>
          <a:prstGeom prst="rect">
            <a:avLst/>
          </a:prstGeom>
          <a:solidFill>
            <a:srgbClr val="84CC16"/>
          </a:solidFill>
          <a:ln w="12700">
            <a:solidFill>
              <a:srgbClr val="84CC16"/>
            </a:solidFill>
            <a:prstDash val="solid"/>
          </a:ln>
        </p:spPr>
      </p:sp>
      <p:pic>
        <p:nvPicPr>
          <p:cNvPr id="2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0336" y="2468880"/>
            <a:ext cx="731520" cy="731520"/>
          </a:xfrm>
          <a:prstGeom prst="rect">
            <a:avLst/>
          </a:prstGeom>
        </p:spPr>
      </p:pic>
      <p:sp>
        <p:nvSpPr>
          <p:cNvPr id="29" name="Text 24"/>
          <p:cNvSpPr/>
          <p:nvPr/>
        </p:nvSpPr>
        <p:spPr>
          <a:xfrm>
            <a:off x="6464808" y="23774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4CC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200" dirty="0"/>
          </a:p>
        </p:txBody>
      </p:sp>
      <p:sp>
        <p:nvSpPr>
          <p:cNvPr id="30" name="Text 25"/>
          <p:cNvSpPr/>
          <p:nvPr/>
        </p:nvSpPr>
        <p:spPr>
          <a:xfrm>
            <a:off x="6419088" y="3749040"/>
            <a:ext cx="24140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Logística</a:t>
            </a:r>
            <a:endParaRPr lang="en-US" sz="1800" dirty="0"/>
          </a:p>
        </p:txBody>
      </p:sp>
      <p:sp>
        <p:nvSpPr>
          <p:cNvPr id="31" name="Text 26"/>
          <p:cNvSpPr/>
          <p:nvPr/>
        </p:nvSpPr>
        <p:spPr>
          <a:xfrm>
            <a:off x="6419088" y="4206240"/>
            <a:ext cx="24140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Tarifa por envío</a:t>
            </a:r>
            <a:endParaRPr lang="en-US" sz="1300" dirty="0"/>
          </a:p>
        </p:txBody>
      </p:sp>
      <p:sp>
        <p:nvSpPr>
          <p:cNvPr id="32" name="Shape 27"/>
          <p:cNvSpPr/>
          <p:nvPr/>
        </p:nvSpPr>
        <p:spPr>
          <a:xfrm>
            <a:off x="7397496" y="4709160"/>
            <a:ext cx="4572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28"/>
          <p:cNvSpPr/>
          <p:nvPr/>
        </p:nvSpPr>
        <p:spPr>
          <a:xfrm>
            <a:off x="6464808" y="4846320"/>
            <a:ext cx="232257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Cadena de frío y ruteo con transportistas aliados.</a:t>
            </a:r>
            <a:endParaRPr lang="en-US" sz="1200" dirty="0"/>
          </a:p>
        </p:txBody>
      </p:sp>
      <p:sp>
        <p:nvSpPr>
          <p:cNvPr id="34" name="Shape 29"/>
          <p:cNvSpPr/>
          <p:nvPr/>
        </p:nvSpPr>
        <p:spPr>
          <a:xfrm>
            <a:off x="9125712" y="2194560"/>
            <a:ext cx="2779776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6000"/>
              </a:srgbClr>
            </a:outerShdw>
          </a:effectLst>
        </p:spPr>
      </p:sp>
      <p:sp>
        <p:nvSpPr>
          <p:cNvPr id="35" name="Shape 30"/>
          <p:cNvSpPr/>
          <p:nvPr/>
        </p:nvSpPr>
        <p:spPr>
          <a:xfrm>
            <a:off x="9125712" y="2194560"/>
            <a:ext cx="2779776" cy="1371600"/>
          </a:xfrm>
          <a:prstGeom prst="rect">
            <a:avLst/>
          </a:prstGeom>
          <a:solidFill>
            <a:srgbClr val="14532D"/>
          </a:solidFill>
          <a:ln w="12700">
            <a:solidFill>
              <a:srgbClr val="14532D"/>
            </a:solidFill>
            <a:prstDash val="solid"/>
          </a:ln>
        </p:spPr>
      </p:sp>
      <p:sp>
        <p:nvSpPr>
          <p:cNvPr id="36" name="Shape 31"/>
          <p:cNvSpPr/>
          <p:nvPr/>
        </p:nvSpPr>
        <p:spPr>
          <a:xfrm>
            <a:off x="9125712" y="3566160"/>
            <a:ext cx="2779776" cy="54864"/>
          </a:xfrm>
          <a:prstGeom prst="rect">
            <a:avLst/>
          </a:prstGeom>
          <a:solidFill>
            <a:srgbClr val="84CC16"/>
          </a:solidFill>
          <a:ln w="12700">
            <a:solidFill>
              <a:srgbClr val="84CC16"/>
            </a:solidFill>
            <a:prstDash val="solid"/>
          </a:ln>
        </p:spPr>
      </p:sp>
      <p:pic>
        <p:nvPicPr>
          <p:cNvPr id="3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2468880"/>
            <a:ext cx="731520" cy="731520"/>
          </a:xfrm>
          <a:prstGeom prst="rect">
            <a:avLst/>
          </a:prstGeom>
        </p:spPr>
      </p:pic>
      <p:sp>
        <p:nvSpPr>
          <p:cNvPr id="38" name="Text 32"/>
          <p:cNvSpPr/>
          <p:nvPr/>
        </p:nvSpPr>
        <p:spPr>
          <a:xfrm>
            <a:off x="9354312" y="23774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4CC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200" dirty="0"/>
          </a:p>
        </p:txBody>
      </p:sp>
      <p:sp>
        <p:nvSpPr>
          <p:cNvPr id="39" name="Text 33"/>
          <p:cNvSpPr/>
          <p:nvPr/>
        </p:nvSpPr>
        <p:spPr>
          <a:xfrm>
            <a:off x="9308592" y="3749040"/>
            <a:ext cx="24140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Servicios Premium</a:t>
            </a:r>
            <a:endParaRPr lang="en-US" sz="1800" dirty="0"/>
          </a:p>
        </p:txBody>
      </p:sp>
      <p:sp>
        <p:nvSpPr>
          <p:cNvPr id="40" name="Text 34"/>
          <p:cNvSpPr/>
          <p:nvPr/>
        </p:nvSpPr>
        <p:spPr>
          <a:xfrm>
            <a:off x="9308592" y="4206240"/>
            <a:ext cx="24140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Bajo cotización</a:t>
            </a:r>
            <a:endParaRPr lang="en-US" sz="1300" dirty="0"/>
          </a:p>
        </p:txBody>
      </p:sp>
      <p:sp>
        <p:nvSpPr>
          <p:cNvPr id="41" name="Shape 35"/>
          <p:cNvSpPr/>
          <p:nvPr/>
        </p:nvSpPr>
        <p:spPr>
          <a:xfrm>
            <a:off x="10287000" y="4709160"/>
            <a:ext cx="4572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36"/>
          <p:cNvSpPr/>
          <p:nvPr/>
        </p:nvSpPr>
        <p:spPr>
          <a:xfrm>
            <a:off x="9354312" y="4846320"/>
            <a:ext cx="232257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Reportes ESG, certificaciones digitales y consultoría.</a:t>
            </a:r>
            <a:endParaRPr lang="en-US" sz="1200" dirty="0"/>
          </a:p>
        </p:txBody>
      </p:sp>
      <p:sp>
        <p:nvSpPr>
          <p:cNvPr id="43" name="Shape 37"/>
          <p:cNvSpPr/>
          <p:nvPr/>
        </p:nvSpPr>
        <p:spPr>
          <a:xfrm>
            <a:off x="457200" y="6473952"/>
            <a:ext cx="11277295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44" name="Text 38"/>
          <p:cNvSpPr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AgroPulse · Proyecto final 2026</a:t>
            </a:r>
            <a:endParaRPr lang="en-US" sz="900" dirty="0"/>
          </a:p>
        </p:txBody>
      </p:sp>
      <p:sp>
        <p:nvSpPr>
          <p:cNvPr id="45" name="Text 39"/>
          <p:cNvSpPr/>
          <p:nvPr/>
        </p:nvSpPr>
        <p:spPr>
          <a:xfrm>
            <a:off x="11094415" y="651052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A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82880" cy="182880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" y="3657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AGROPULSE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PLANES SAAS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Suscripciones diseñadas para cada tamaño de operación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457200" y="1691640"/>
            <a:ext cx="548640" cy="54864"/>
          </a:xfrm>
          <a:prstGeom prst="rect">
            <a:avLst/>
          </a:prstGeom>
          <a:solidFill>
            <a:srgbClr val="84CC16"/>
          </a:solidFill>
          <a:ln w="12700">
            <a:solidFill>
              <a:srgbClr val="84CC1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2148840"/>
            <a:ext cx="3703320" cy="4069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7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2148840"/>
            <a:ext cx="3703320" cy="73152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46888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600" kern="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BÁSICO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31520" y="2834640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$1,490</a:t>
            </a:r>
            <a:endParaRPr lang="en-US" sz="4200" dirty="0"/>
          </a:p>
        </p:txBody>
      </p:sp>
      <p:sp>
        <p:nvSpPr>
          <p:cNvPr id="11" name="Text 9"/>
          <p:cNvSpPr/>
          <p:nvPr/>
        </p:nvSpPr>
        <p:spPr>
          <a:xfrm>
            <a:off x="731520" y="352044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MXN / mes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31520" y="3886200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sensores incluidos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14400" y="4297680"/>
            <a:ext cx="27889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" y="4389120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005840" y="438912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básico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77240" y="4663440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005840" y="466344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Alertas estándar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77240" y="4937760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005840" y="493776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Soporte por email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77240" y="5212080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005840" y="521208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Trazabilidad QR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77240" y="5486400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005840" y="548640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finca / 1 usuario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279392" y="2148840"/>
            <a:ext cx="3703320" cy="4069080"/>
          </a:xfrm>
          <a:prstGeom prst="rect">
            <a:avLst/>
          </a:prstGeom>
          <a:solidFill>
            <a:srgbClr val="15803D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279392" y="2148840"/>
            <a:ext cx="3703320" cy="73152"/>
          </a:xfrm>
          <a:prstGeom prst="rect">
            <a:avLst/>
          </a:prstGeom>
          <a:solidFill>
            <a:srgbClr val="84CC16"/>
          </a:solidFill>
          <a:ln w="12700">
            <a:solidFill>
              <a:srgbClr val="84CC1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353812" y="2295144"/>
            <a:ext cx="1554480" cy="274320"/>
          </a:xfrm>
          <a:prstGeom prst="rect">
            <a:avLst/>
          </a:prstGeom>
          <a:solidFill>
            <a:srgbClr val="84CC16"/>
          </a:solidFill>
          <a:ln w="12700">
            <a:solidFill>
              <a:srgbClr val="84CC1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353812" y="2295144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400" kern="0" dirty="0">
                <a:solidFill>
                  <a:srgbClr val="145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POPULAR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553712" y="274320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6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4553712" y="3108960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$3,990</a:t>
            </a:r>
            <a:endParaRPr lang="en-US" sz="4200" dirty="0"/>
          </a:p>
        </p:txBody>
      </p:sp>
      <p:sp>
        <p:nvSpPr>
          <p:cNvPr id="30" name="Text 28"/>
          <p:cNvSpPr/>
          <p:nvPr/>
        </p:nvSpPr>
        <p:spPr>
          <a:xfrm>
            <a:off x="4553712" y="379476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MXN / mes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553712" y="4160520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4CC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sensores incluidos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4736592" y="4572000"/>
            <a:ext cx="2788920" cy="0"/>
          </a:xfrm>
          <a:prstGeom prst="line">
            <a:avLst/>
          </a:prstGeom>
          <a:noFill/>
          <a:ln w="12700">
            <a:solidFill>
              <a:srgbClr val="1F6A3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599432" y="4663440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4CC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4828032" y="466344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Pronóstico de demanda ML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4599432" y="4937760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4CC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4828032" y="493776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Integración logística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4599432" y="5212080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4CC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</a:t>
            </a:r>
            <a:endParaRPr lang="en-US" sz="1800" dirty="0"/>
          </a:p>
        </p:txBody>
      </p:sp>
      <p:sp>
        <p:nvSpPr>
          <p:cNvPr id="38" name="Text 36"/>
          <p:cNvSpPr/>
          <p:nvPr/>
        </p:nvSpPr>
        <p:spPr>
          <a:xfrm>
            <a:off x="4828032" y="521208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Reportes ESG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4599432" y="5486400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4CC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</a:t>
            </a:r>
            <a:endParaRPr lang="en-US" sz="1800" dirty="0"/>
          </a:p>
        </p:txBody>
      </p:sp>
      <p:sp>
        <p:nvSpPr>
          <p:cNvPr id="40" name="Text 38"/>
          <p:cNvSpPr/>
          <p:nvPr/>
        </p:nvSpPr>
        <p:spPr>
          <a:xfrm>
            <a:off x="4828032" y="548640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Soporte prioritario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4599432" y="5760720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4CC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</a:t>
            </a:r>
            <a:endParaRPr lang="en-US" sz="1800" dirty="0"/>
          </a:p>
        </p:txBody>
      </p:sp>
      <p:sp>
        <p:nvSpPr>
          <p:cNvPr id="42" name="Text 40"/>
          <p:cNvSpPr/>
          <p:nvPr/>
        </p:nvSpPr>
        <p:spPr>
          <a:xfrm>
            <a:off x="4828032" y="576072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Multi-usuario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8101584" y="2148840"/>
            <a:ext cx="3703320" cy="4069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7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8101584" y="2148840"/>
            <a:ext cx="3703320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375904" y="246888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600" kern="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8375904" y="2834640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cotizar</a:t>
            </a:r>
            <a:endParaRPr lang="en-US" sz="4200" dirty="0"/>
          </a:p>
        </p:txBody>
      </p:sp>
      <p:sp>
        <p:nvSpPr>
          <p:cNvPr id="47" name="Text 45"/>
          <p:cNvSpPr/>
          <p:nvPr/>
        </p:nvSpPr>
        <p:spPr>
          <a:xfrm>
            <a:off x="8375904" y="352044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según operación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8375904" y="3886200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Sensores ilimitados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8558784" y="4297680"/>
            <a:ext cx="27889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8421624" y="4389120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</a:t>
            </a:r>
            <a:endParaRPr lang="en-US" sz="1800" dirty="0"/>
          </a:p>
        </p:txBody>
      </p:sp>
      <p:sp>
        <p:nvSpPr>
          <p:cNvPr id="51" name="Text 49"/>
          <p:cNvSpPr/>
          <p:nvPr/>
        </p:nvSpPr>
        <p:spPr>
          <a:xfrm>
            <a:off x="8650224" y="438912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privada y SSO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8421624" y="4663440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</a:t>
            </a:r>
            <a:endParaRPr lang="en-US" sz="1800" dirty="0"/>
          </a:p>
        </p:txBody>
      </p:sp>
      <p:sp>
        <p:nvSpPr>
          <p:cNvPr id="53" name="Text 51"/>
          <p:cNvSpPr/>
          <p:nvPr/>
        </p:nvSpPr>
        <p:spPr>
          <a:xfrm>
            <a:off x="8650224" y="466344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Multi-finca y multi-país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8421624" y="4937760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</a:t>
            </a:r>
            <a:endParaRPr lang="en-US" sz="1800" dirty="0"/>
          </a:p>
        </p:txBody>
      </p:sp>
      <p:sp>
        <p:nvSpPr>
          <p:cNvPr id="55" name="Text 53"/>
          <p:cNvSpPr/>
          <p:nvPr/>
        </p:nvSpPr>
        <p:spPr>
          <a:xfrm>
            <a:off x="8650224" y="493776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Soporte 24/7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8421624" y="5212080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</a:t>
            </a:r>
            <a:endParaRPr lang="en-US" sz="1800" dirty="0"/>
          </a:p>
        </p:txBody>
      </p:sp>
      <p:sp>
        <p:nvSpPr>
          <p:cNvPr id="57" name="Text 55"/>
          <p:cNvSpPr/>
          <p:nvPr/>
        </p:nvSpPr>
        <p:spPr>
          <a:xfrm>
            <a:off x="8650224" y="521208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Consultoría dedicada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8421624" y="5486400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</a:t>
            </a:r>
            <a:endParaRPr lang="en-US" sz="1800" dirty="0"/>
          </a:p>
        </p:txBody>
      </p:sp>
      <p:sp>
        <p:nvSpPr>
          <p:cNvPr id="59" name="Text 57"/>
          <p:cNvSpPr/>
          <p:nvPr/>
        </p:nvSpPr>
        <p:spPr>
          <a:xfrm>
            <a:off x="8650224" y="548640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 personalizado</a:t>
            </a:r>
            <a:endParaRPr lang="en-US" sz="1100" dirty="0"/>
          </a:p>
        </p:txBody>
      </p:sp>
      <p:sp>
        <p:nvSpPr>
          <p:cNvPr id="60" name="Shape 58"/>
          <p:cNvSpPr/>
          <p:nvPr/>
        </p:nvSpPr>
        <p:spPr>
          <a:xfrm>
            <a:off x="457200" y="6473952"/>
            <a:ext cx="11277295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AgroPulse · Proyecto final 2026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11094415" y="651052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A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82880" cy="182880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" y="3657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AGROPULSE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 TECNOLÓGICO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Tecnologías modernas para una plataforma escalable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457200" y="1691640"/>
            <a:ext cx="548640" cy="54864"/>
          </a:xfrm>
          <a:prstGeom prst="rect">
            <a:avLst/>
          </a:prstGeom>
          <a:solidFill>
            <a:srgbClr val="84CC16"/>
          </a:solidFill>
          <a:ln w="12700">
            <a:solidFill>
              <a:srgbClr val="84CC1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2194560"/>
            <a:ext cx="11277295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6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2194560"/>
            <a:ext cx="1463040" cy="960120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2377440"/>
            <a:ext cx="548640" cy="54864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411480" y="288036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2103120" y="2359152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 01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2103120" y="256032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5394960" y="2313432"/>
            <a:ext cx="1965960" cy="365760"/>
          </a:xfrm>
          <a:prstGeom prst="roundRect">
            <a:avLst>
              <a:gd name="adj" fmla="val 12500"/>
            </a:avLst>
          </a:prstGeom>
          <a:solidFill>
            <a:srgbClr val="FAFAF9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486400" y="2313432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16 (App Router)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7452360" y="2313432"/>
            <a:ext cx="1965960" cy="365760"/>
          </a:xfrm>
          <a:prstGeom prst="roundRect">
            <a:avLst>
              <a:gd name="adj" fmla="val 12500"/>
            </a:avLst>
          </a:prstGeom>
          <a:solidFill>
            <a:srgbClr val="FAFAF9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543800" y="2313432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TypeScript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9509760" y="2313432"/>
            <a:ext cx="1965960" cy="365760"/>
          </a:xfrm>
          <a:prstGeom prst="roundRect">
            <a:avLst>
              <a:gd name="adj" fmla="val 12500"/>
            </a:avLst>
          </a:prstGeom>
          <a:solidFill>
            <a:srgbClr val="FAFAF9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601200" y="2313432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Tailwind CSS 4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5394960" y="2752344"/>
            <a:ext cx="1965960" cy="365760"/>
          </a:xfrm>
          <a:prstGeom prst="roundRect">
            <a:avLst>
              <a:gd name="adj" fmla="val 12500"/>
            </a:avLst>
          </a:prstGeom>
          <a:solidFill>
            <a:srgbClr val="FAFAF9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5486400" y="2752344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Recharts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7452360" y="2752344"/>
            <a:ext cx="1965960" cy="365760"/>
          </a:xfrm>
          <a:prstGeom prst="roundRect">
            <a:avLst>
              <a:gd name="adj" fmla="val 12500"/>
            </a:avLst>
          </a:prstGeom>
          <a:solidFill>
            <a:srgbClr val="FAFAF9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543800" y="2752344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Lucide-react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9509760" y="2752344"/>
            <a:ext cx="1965960" cy="365760"/>
          </a:xfrm>
          <a:prstGeom prst="roundRect">
            <a:avLst>
              <a:gd name="adj" fmla="val 12500"/>
            </a:avLst>
          </a:prstGeom>
          <a:solidFill>
            <a:srgbClr val="FAFAF9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9601200" y="2752344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react-leaflet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457200" y="3282696"/>
            <a:ext cx="11277295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6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457200" y="3282696"/>
            <a:ext cx="1463040" cy="960120"/>
          </a:xfrm>
          <a:prstGeom prst="rect">
            <a:avLst/>
          </a:prstGeom>
          <a:solidFill>
            <a:srgbClr val="14532D"/>
          </a:solidFill>
          <a:ln w="12700">
            <a:solidFill>
              <a:srgbClr val="14532D"/>
            </a:solidFill>
            <a:prstDash val="solid"/>
          </a:ln>
        </p:spPr>
      </p:sp>
      <p:pic>
        <p:nvPicPr>
          <p:cNvPr id="2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465576"/>
            <a:ext cx="548640" cy="548640"/>
          </a:xfrm>
          <a:prstGeom prst="rect">
            <a:avLst/>
          </a:prstGeom>
        </p:spPr>
      </p:pic>
      <p:sp>
        <p:nvSpPr>
          <p:cNvPr id="28" name="Text 24"/>
          <p:cNvSpPr/>
          <p:nvPr/>
        </p:nvSpPr>
        <p:spPr>
          <a:xfrm>
            <a:off x="411480" y="3968496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900" dirty="0"/>
          </a:p>
        </p:txBody>
      </p:sp>
      <p:sp>
        <p:nvSpPr>
          <p:cNvPr id="29" name="Text 25"/>
          <p:cNvSpPr/>
          <p:nvPr/>
        </p:nvSpPr>
        <p:spPr>
          <a:xfrm>
            <a:off x="2103120" y="3447288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 02</a:t>
            </a:r>
            <a:endParaRPr lang="en-US" sz="900" dirty="0"/>
          </a:p>
        </p:txBody>
      </p:sp>
      <p:sp>
        <p:nvSpPr>
          <p:cNvPr id="30" name="Text 26"/>
          <p:cNvSpPr/>
          <p:nvPr/>
        </p:nvSpPr>
        <p:spPr>
          <a:xfrm>
            <a:off x="2103120" y="3648456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700" dirty="0"/>
          </a:p>
        </p:txBody>
      </p:sp>
      <p:sp>
        <p:nvSpPr>
          <p:cNvPr id="31" name="Shape 27"/>
          <p:cNvSpPr/>
          <p:nvPr/>
        </p:nvSpPr>
        <p:spPr>
          <a:xfrm>
            <a:off x="5394960" y="3401568"/>
            <a:ext cx="1965960" cy="365760"/>
          </a:xfrm>
          <a:prstGeom prst="roundRect">
            <a:avLst>
              <a:gd name="adj" fmla="val 12500"/>
            </a:avLst>
          </a:prstGeom>
          <a:solidFill>
            <a:srgbClr val="FAFAF9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2" name="Text 28"/>
          <p:cNvSpPr/>
          <p:nvPr/>
        </p:nvSpPr>
        <p:spPr>
          <a:xfrm>
            <a:off x="5486400" y="3401568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Handlers</a:t>
            </a:r>
            <a:endParaRPr lang="en-US" sz="1000" dirty="0"/>
          </a:p>
        </p:txBody>
      </p:sp>
      <p:sp>
        <p:nvSpPr>
          <p:cNvPr id="33" name="Shape 29"/>
          <p:cNvSpPr/>
          <p:nvPr/>
        </p:nvSpPr>
        <p:spPr>
          <a:xfrm>
            <a:off x="7452360" y="3401568"/>
            <a:ext cx="1965960" cy="365760"/>
          </a:xfrm>
          <a:prstGeom prst="roundRect">
            <a:avLst>
              <a:gd name="adj" fmla="val 12500"/>
            </a:avLst>
          </a:prstGeom>
          <a:solidFill>
            <a:srgbClr val="FAFAF9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4" name="Text 30"/>
          <p:cNvSpPr/>
          <p:nvPr/>
        </p:nvSpPr>
        <p:spPr>
          <a:xfrm>
            <a:off x="7543800" y="3401568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Mock data JSON</a:t>
            </a:r>
            <a:endParaRPr lang="en-US" sz="1000" dirty="0"/>
          </a:p>
        </p:txBody>
      </p:sp>
      <p:sp>
        <p:nvSpPr>
          <p:cNvPr id="35" name="Shape 31"/>
          <p:cNvSpPr/>
          <p:nvPr/>
        </p:nvSpPr>
        <p:spPr>
          <a:xfrm>
            <a:off x="9509760" y="3401568"/>
            <a:ext cx="1965960" cy="365760"/>
          </a:xfrm>
          <a:prstGeom prst="roundRect">
            <a:avLst>
              <a:gd name="adj" fmla="val 12500"/>
            </a:avLst>
          </a:prstGeom>
          <a:solidFill>
            <a:srgbClr val="FAFAF9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6" name="Text 32"/>
          <p:cNvSpPr/>
          <p:nvPr/>
        </p:nvSpPr>
        <p:spPr>
          <a:xfrm>
            <a:off x="9601200" y="3401568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API simulada</a:t>
            </a:r>
            <a:endParaRPr lang="en-US" sz="1000" dirty="0"/>
          </a:p>
        </p:txBody>
      </p:sp>
      <p:sp>
        <p:nvSpPr>
          <p:cNvPr id="37" name="Shape 33"/>
          <p:cNvSpPr/>
          <p:nvPr/>
        </p:nvSpPr>
        <p:spPr>
          <a:xfrm>
            <a:off x="5394960" y="3840480"/>
            <a:ext cx="1965960" cy="365760"/>
          </a:xfrm>
          <a:prstGeom prst="roundRect">
            <a:avLst>
              <a:gd name="adj" fmla="val 12500"/>
            </a:avLst>
          </a:prstGeom>
          <a:solidFill>
            <a:srgbClr val="FAFAF9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8" name="Text 34"/>
          <p:cNvSpPr/>
          <p:nvPr/>
        </p:nvSpPr>
        <p:spPr>
          <a:xfrm>
            <a:off x="5486400" y="384048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Validación TS estricta</a:t>
            </a:r>
            <a:endParaRPr lang="en-US" sz="1000" dirty="0"/>
          </a:p>
        </p:txBody>
      </p:sp>
      <p:sp>
        <p:nvSpPr>
          <p:cNvPr id="39" name="Shape 35"/>
          <p:cNvSpPr/>
          <p:nvPr/>
        </p:nvSpPr>
        <p:spPr>
          <a:xfrm>
            <a:off x="457200" y="4370832"/>
            <a:ext cx="11277295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6000"/>
              </a:srgbClr>
            </a:outerShdw>
          </a:effectLst>
        </p:spPr>
      </p:sp>
      <p:sp>
        <p:nvSpPr>
          <p:cNvPr id="40" name="Shape 36"/>
          <p:cNvSpPr/>
          <p:nvPr/>
        </p:nvSpPr>
        <p:spPr>
          <a:xfrm>
            <a:off x="457200" y="4370832"/>
            <a:ext cx="1463040" cy="9601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pic>
        <p:nvPicPr>
          <p:cNvPr id="4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4553712"/>
            <a:ext cx="548640" cy="548640"/>
          </a:xfrm>
          <a:prstGeom prst="rect">
            <a:avLst/>
          </a:prstGeom>
        </p:spPr>
      </p:pic>
      <p:sp>
        <p:nvSpPr>
          <p:cNvPr id="42" name="Text 37"/>
          <p:cNvSpPr/>
          <p:nvPr/>
        </p:nvSpPr>
        <p:spPr>
          <a:xfrm>
            <a:off x="411480" y="5056632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&amp; AI</a:t>
            </a:r>
            <a:endParaRPr lang="en-US" sz="900" dirty="0"/>
          </a:p>
        </p:txBody>
      </p:sp>
      <p:sp>
        <p:nvSpPr>
          <p:cNvPr id="43" name="Text 38"/>
          <p:cNvSpPr/>
          <p:nvPr/>
        </p:nvSpPr>
        <p:spPr>
          <a:xfrm>
            <a:off x="2103120" y="4535424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 03</a:t>
            </a:r>
            <a:endParaRPr lang="en-US" sz="900" dirty="0"/>
          </a:p>
        </p:txBody>
      </p:sp>
      <p:sp>
        <p:nvSpPr>
          <p:cNvPr id="44" name="Text 39"/>
          <p:cNvSpPr/>
          <p:nvPr/>
        </p:nvSpPr>
        <p:spPr>
          <a:xfrm>
            <a:off x="2103120" y="4736592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&amp; AI</a:t>
            </a:r>
            <a:endParaRPr lang="en-US" sz="1700" dirty="0"/>
          </a:p>
        </p:txBody>
      </p:sp>
      <p:sp>
        <p:nvSpPr>
          <p:cNvPr id="45" name="Shape 40"/>
          <p:cNvSpPr/>
          <p:nvPr/>
        </p:nvSpPr>
        <p:spPr>
          <a:xfrm>
            <a:off x="5394960" y="4489704"/>
            <a:ext cx="1965960" cy="365760"/>
          </a:xfrm>
          <a:prstGeom prst="roundRect">
            <a:avLst>
              <a:gd name="adj" fmla="val 12500"/>
            </a:avLst>
          </a:prstGeom>
          <a:solidFill>
            <a:srgbClr val="FAFAF9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6" name="Text 41"/>
          <p:cNvSpPr/>
          <p:nvPr/>
        </p:nvSpPr>
        <p:spPr>
          <a:xfrm>
            <a:off x="5486400" y="4489704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IoT LoRaWAN</a:t>
            </a:r>
            <a:endParaRPr lang="en-US" sz="1000" dirty="0"/>
          </a:p>
        </p:txBody>
      </p:sp>
      <p:sp>
        <p:nvSpPr>
          <p:cNvPr id="47" name="Shape 42"/>
          <p:cNvSpPr/>
          <p:nvPr/>
        </p:nvSpPr>
        <p:spPr>
          <a:xfrm>
            <a:off x="7452360" y="4489704"/>
            <a:ext cx="1965960" cy="365760"/>
          </a:xfrm>
          <a:prstGeom prst="roundRect">
            <a:avLst>
              <a:gd name="adj" fmla="val 12500"/>
            </a:avLst>
          </a:prstGeom>
          <a:solidFill>
            <a:srgbClr val="FAFAF9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8" name="Text 43"/>
          <p:cNvSpPr/>
          <p:nvPr/>
        </p:nvSpPr>
        <p:spPr>
          <a:xfrm>
            <a:off x="7543800" y="4489704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ML: XGBoost / Prophet</a:t>
            </a:r>
            <a:endParaRPr lang="en-US" sz="1000" dirty="0"/>
          </a:p>
        </p:txBody>
      </p:sp>
      <p:sp>
        <p:nvSpPr>
          <p:cNvPr id="49" name="Shape 44"/>
          <p:cNvSpPr/>
          <p:nvPr/>
        </p:nvSpPr>
        <p:spPr>
          <a:xfrm>
            <a:off x="9509760" y="4489704"/>
            <a:ext cx="1965960" cy="365760"/>
          </a:xfrm>
          <a:prstGeom prst="roundRect">
            <a:avLst>
              <a:gd name="adj" fmla="val 12500"/>
            </a:avLst>
          </a:prstGeom>
          <a:solidFill>
            <a:srgbClr val="FAFAF9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0" name="Text 45"/>
          <p:cNvSpPr/>
          <p:nvPr/>
        </p:nvSpPr>
        <p:spPr>
          <a:xfrm>
            <a:off x="9601200" y="4489704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Forecasting de demanda</a:t>
            </a:r>
            <a:endParaRPr lang="en-US" sz="1000" dirty="0"/>
          </a:p>
        </p:txBody>
      </p:sp>
      <p:sp>
        <p:nvSpPr>
          <p:cNvPr id="51" name="Shape 46"/>
          <p:cNvSpPr/>
          <p:nvPr/>
        </p:nvSpPr>
        <p:spPr>
          <a:xfrm>
            <a:off x="5394960" y="4928616"/>
            <a:ext cx="1965960" cy="365760"/>
          </a:xfrm>
          <a:prstGeom prst="roundRect">
            <a:avLst>
              <a:gd name="adj" fmla="val 12500"/>
            </a:avLst>
          </a:prstGeom>
          <a:solidFill>
            <a:srgbClr val="FAFAF9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2" name="Text 47"/>
          <p:cNvSpPr/>
          <p:nvPr/>
        </p:nvSpPr>
        <p:spPr>
          <a:xfrm>
            <a:off x="5486400" y="4928616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Blockchain ligera (opcional)</a:t>
            </a:r>
            <a:endParaRPr lang="en-US" sz="1000" dirty="0"/>
          </a:p>
        </p:txBody>
      </p:sp>
      <p:sp>
        <p:nvSpPr>
          <p:cNvPr id="53" name="Shape 48"/>
          <p:cNvSpPr/>
          <p:nvPr/>
        </p:nvSpPr>
        <p:spPr>
          <a:xfrm>
            <a:off x="457200" y="5458968"/>
            <a:ext cx="11277295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6000"/>
              </a:srgbClr>
            </a:outerShdw>
          </a:effectLst>
        </p:spPr>
      </p:sp>
      <p:sp>
        <p:nvSpPr>
          <p:cNvPr id="54" name="Shape 49"/>
          <p:cNvSpPr/>
          <p:nvPr/>
        </p:nvSpPr>
        <p:spPr>
          <a:xfrm>
            <a:off x="457200" y="5458968"/>
            <a:ext cx="1463040" cy="960120"/>
          </a:xfrm>
          <a:prstGeom prst="rect">
            <a:avLst/>
          </a:prstGeom>
          <a:solidFill>
            <a:srgbClr val="84CC16"/>
          </a:solidFill>
          <a:ln w="12700">
            <a:solidFill>
              <a:srgbClr val="84CC16"/>
            </a:solidFill>
            <a:prstDash val="solid"/>
          </a:ln>
        </p:spPr>
      </p:sp>
      <p:pic>
        <p:nvPicPr>
          <p:cNvPr id="5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" y="5641848"/>
            <a:ext cx="548640" cy="548640"/>
          </a:xfrm>
          <a:prstGeom prst="rect">
            <a:avLst/>
          </a:prstGeom>
        </p:spPr>
      </p:pic>
      <p:sp>
        <p:nvSpPr>
          <p:cNvPr id="56" name="Text 50"/>
          <p:cNvSpPr/>
          <p:nvPr/>
        </p:nvSpPr>
        <p:spPr>
          <a:xfrm>
            <a:off x="411480" y="6144768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</a:t>
            </a:r>
            <a:endParaRPr lang="en-US" sz="900" dirty="0"/>
          </a:p>
        </p:txBody>
      </p:sp>
      <p:sp>
        <p:nvSpPr>
          <p:cNvPr id="57" name="Text 51"/>
          <p:cNvSpPr/>
          <p:nvPr/>
        </p:nvSpPr>
        <p:spPr>
          <a:xfrm>
            <a:off x="2103120" y="562356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 04</a:t>
            </a:r>
            <a:endParaRPr lang="en-US" sz="900" dirty="0"/>
          </a:p>
        </p:txBody>
      </p:sp>
      <p:sp>
        <p:nvSpPr>
          <p:cNvPr id="58" name="Text 52"/>
          <p:cNvSpPr/>
          <p:nvPr/>
        </p:nvSpPr>
        <p:spPr>
          <a:xfrm>
            <a:off x="2103120" y="5824728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</a:t>
            </a:r>
            <a:endParaRPr lang="en-US" sz="1700" dirty="0"/>
          </a:p>
        </p:txBody>
      </p:sp>
      <p:sp>
        <p:nvSpPr>
          <p:cNvPr id="59" name="Shape 53"/>
          <p:cNvSpPr/>
          <p:nvPr/>
        </p:nvSpPr>
        <p:spPr>
          <a:xfrm>
            <a:off x="5394960" y="5577840"/>
            <a:ext cx="1965960" cy="365760"/>
          </a:xfrm>
          <a:prstGeom prst="roundRect">
            <a:avLst>
              <a:gd name="adj" fmla="val 12500"/>
            </a:avLst>
          </a:prstGeom>
          <a:solidFill>
            <a:srgbClr val="FAFAF9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60" name="Text 54"/>
          <p:cNvSpPr/>
          <p:nvPr/>
        </p:nvSpPr>
        <p:spPr>
          <a:xfrm>
            <a:off x="5486400" y="557784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Vercel (producción)</a:t>
            </a:r>
            <a:endParaRPr lang="en-US" sz="1000" dirty="0"/>
          </a:p>
        </p:txBody>
      </p:sp>
      <p:sp>
        <p:nvSpPr>
          <p:cNvPr id="61" name="Shape 55"/>
          <p:cNvSpPr/>
          <p:nvPr/>
        </p:nvSpPr>
        <p:spPr>
          <a:xfrm>
            <a:off x="7452360" y="5577840"/>
            <a:ext cx="1965960" cy="365760"/>
          </a:xfrm>
          <a:prstGeom prst="roundRect">
            <a:avLst>
              <a:gd name="adj" fmla="val 12500"/>
            </a:avLst>
          </a:prstGeom>
          <a:solidFill>
            <a:srgbClr val="FAFAF9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62" name="Text 56"/>
          <p:cNvSpPr/>
          <p:nvPr/>
        </p:nvSpPr>
        <p:spPr>
          <a:xfrm>
            <a:off x="7543800" y="557784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(CI/CD)</a:t>
            </a:r>
            <a:endParaRPr lang="en-US" sz="1000" dirty="0"/>
          </a:p>
        </p:txBody>
      </p:sp>
      <p:sp>
        <p:nvSpPr>
          <p:cNvPr id="63" name="Shape 57"/>
          <p:cNvSpPr/>
          <p:nvPr/>
        </p:nvSpPr>
        <p:spPr>
          <a:xfrm>
            <a:off x="9509760" y="5577840"/>
            <a:ext cx="1965960" cy="365760"/>
          </a:xfrm>
          <a:prstGeom prst="roundRect">
            <a:avLst>
              <a:gd name="adj" fmla="val 12500"/>
            </a:avLst>
          </a:prstGeom>
          <a:solidFill>
            <a:srgbClr val="FAFAF9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64" name="Text 58"/>
          <p:cNvSpPr/>
          <p:nvPr/>
        </p:nvSpPr>
        <p:spPr>
          <a:xfrm>
            <a:off x="9601200" y="557784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Dominio agropulse.mx</a:t>
            </a:r>
            <a:endParaRPr lang="en-US" sz="1000" dirty="0"/>
          </a:p>
        </p:txBody>
      </p:sp>
      <p:sp>
        <p:nvSpPr>
          <p:cNvPr id="65" name="Shape 59"/>
          <p:cNvSpPr/>
          <p:nvPr/>
        </p:nvSpPr>
        <p:spPr>
          <a:xfrm>
            <a:off x="5394960" y="6016752"/>
            <a:ext cx="1965960" cy="365760"/>
          </a:xfrm>
          <a:prstGeom prst="roundRect">
            <a:avLst>
              <a:gd name="adj" fmla="val 12500"/>
            </a:avLst>
          </a:prstGeom>
          <a:solidFill>
            <a:srgbClr val="FAFAF9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66" name="Text 60"/>
          <p:cNvSpPr/>
          <p:nvPr/>
        </p:nvSpPr>
        <p:spPr>
          <a:xfrm>
            <a:off x="5486400" y="6016752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 integrado</a:t>
            </a:r>
            <a:endParaRPr lang="en-US" sz="1000" dirty="0"/>
          </a:p>
        </p:txBody>
      </p:sp>
      <p:sp>
        <p:nvSpPr>
          <p:cNvPr id="67" name="Shape 61"/>
          <p:cNvSpPr/>
          <p:nvPr/>
        </p:nvSpPr>
        <p:spPr>
          <a:xfrm>
            <a:off x="457200" y="6473952"/>
            <a:ext cx="11277295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68" name="Text 62"/>
          <p:cNvSpPr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AgroPulse · Proyecto final 2026</a:t>
            </a:r>
            <a:endParaRPr lang="en-US" sz="900" dirty="0"/>
          </a:p>
        </p:txBody>
      </p:sp>
      <p:sp>
        <p:nvSpPr>
          <p:cNvPr id="69" name="Text 63"/>
          <p:cNvSpPr/>
          <p:nvPr/>
        </p:nvSpPr>
        <p:spPr>
          <a:xfrm>
            <a:off x="11094415" y="651052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A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82880" cy="182880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" y="3657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AGROPULSE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DEL SITIO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Pantallas principales — agropulse.mx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457200" y="1691640"/>
            <a:ext cx="548640" cy="54864"/>
          </a:xfrm>
          <a:prstGeom prst="rect">
            <a:avLst/>
          </a:prstGeom>
          <a:solidFill>
            <a:srgbClr val="84CC16"/>
          </a:solidFill>
          <a:ln w="12700">
            <a:solidFill>
              <a:srgbClr val="84CC1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2194560"/>
            <a:ext cx="2779776" cy="36576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2194560"/>
            <a:ext cx="2779776" cy="29260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276856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13232" y="2276856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77824" y="2276856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143000" y="2249424"/>
            <a:ext cx="1956816" cy="1828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07008" y="2240280"/>
            <a:ext cx="1865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agropulse.mx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457200" y="2487168"/>
            <a:ext cx="2779776" cy="2194560"/>
          </a:xfrm>
          <a:prstGeom prst="rect">
            <a:avLst/>
          </a:prstGeom>
          <a:solidFill>
            <a:srgbClr val="14532D"/>
          </a:solidFill>
          <a:ln w="12700">
            <a:solidFill>
              <a:srgbClr val="14532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389888" y="2898648"/>
            <a:ext cx="914400" cy="914400"/>
          </a:xfrm>
          <a:prstGeom prst="ellipse">
            <a:avLst/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20000"/>
              </a:srgbClr>
            </a:solidFill>
            <a:prstDash val="solid"/>
          </a:ln>
        </p:spPr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72768" y="3081528"/>
            <a:ext cx="548640" cy="548640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731520" y="4041648"/>
            <a:ext cx="2231136" cy="91440"/>
          </a:xfrm>
          <a:prstGeom prst="rect">
            <a:avLst/>
          </a:prstGeom>
          <a:solidFill>
            <a:srgbClr val="84CC16">
              <a:alpha val="70000"/>
            </a:srgbClr>
          </a:solidFill>
          <a:ln w="12700">
            <a:solidFill>
              <a:srgbClr val="84CC16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31520" y="4224528"/>
            <a:ext cx="1682496" cy="73152"/>
          </a:xfrm>
          <a:prstGeom prst="rect">
            <a:avLst/>
          </a:prstGeom>
          <a:solidFill>
            <a:srgbClr val="FFFFFF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31520" y="4361688"/>
            <a:ext cx="1956816" cy="73152"/>
          </a:xfrm>
          <a:prstGeom prst="rect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31520" y="3675888"/>
            <a:ext cx="223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500" kern="0" dirty="0">
                <a:solidFill>
                  <a:srgbClr val="84CC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LANDING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640080" y="4773168"/>
            <a:ext cx="24140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Landing</a:t>
            </a:r>
            <a:endParaRPr lang="en-US" sz="1800" dirty="0"/>
          </a:p>
        </p:txBody>
      </p:sp>
      <p:sp>
        <p:nvSpPr>
          <p:cNvPr id="22" name="Text 19"/>
          <p:cNvSpPr/>
          <p:nvPr/>
        </p:nvSpPr>
        <p:spPr>
          <a:xfrm>
            <a:off x="685800" y="5184648"/>
            <a:ext cx="23225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Hero, problema, solución, planes y CTA.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3346704" y="2194560"/>
            <a:ext cx="2779776" cy="36576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3346704" y="2194560"/>
            <a:ext cx="2779776" cy="29260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3438144" y="2276856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3602736" y="2276856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3767328" y="2276856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032504" y="2249424"/>
            <a:ext cx="1956816" cy="1828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4096512" y="2240280"/>
            <a:ext cx="1865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agropulse.mx/marketplace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3346704" y="2487168"/>
            <a:ext cx="2779776" cy="2194560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4279392" y="2898648"/>
            <a:ext cx="914400" cy="914400"/>
          </a:xfrm>
          <a:prstGeom prst="ellipse">
            <a:avLst/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20000"/>
              </a:srgbClr>
            </a:solidFill>
            <a:prstDash val="solid"/>
          </a:ln>
        </p:spPr>
      </p:sp>
      <p:pic>
        <p:nvPicPr>
          <p:cNvPr id="3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62272" y="3081528"/>
            <a:ext cx="548640" cy="548640"/>
          </a:xfrm>
          <a:prstGeom prst="rect">
            <a:avLst/>
          </a:prstGeom>
        </p:spPr>
      </p:pic>
      <p:sp>
        <p:nvSpPr>
          <p:cNvPr id="33" name="Shape 29"/>
          <p:cNvSpPr/>
          <p:nvPr/>
        </p:nvSpPr>
        <p:spPr>
          <a:xfrm>
            <a:off x="3621024" y="4041648"/>
            <a:ext cx="2231136" cy="91440"/>
          </a:xfrm>
          <a:prstGeom prst="rect">
            <a:avLst/>
          </a:prstGeom>
          <a:solidFill>
            <a:srgbClr val="F59E0B">
              <a:alpha val="70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3621024" y="4224528"/>
            <a:ext cx="1682496" cy="73152"/>
          </a:xfrm>
          <a:prstGeom prst="rect">
            <a:avLst/>
          </a:prstGeom>
          <a:solidFill>
            <a:srgbClr val="FFFFFF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3621024" y="4361688"/>
            <a:ext cx="1956816" cy="73152"/>
          </a:xfrm>
          <a:prstGeom prst="rect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2"/>
          <p:cNvSpPr/>
          <p:nvPr/>
        </p:nvSpPr>
        <p:spPr>
          <a:xfrm>
            <a:off x="3621024" y="3675888"/>
            <a:ext cx="223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5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</a:t>
            </a:r>
            <a:endParaRPr lang="en-US" sz="1000" dirty="0"/>
          </a:p>
        </p:txBody>
      </p:sp>
      <p:sp>
        <p:nvSpPr>
          <p:cNvPr id="37" name="Text 33"/>
          <p:cNvSpPr/>
          <p:nvPr/>
        </p:nvSpPr>
        <p:spPr>
          <a:xfrm>
            <a:off x="3529584" y="4773168"/>
            <a:ext cx="24140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</a:t>
            </a:r>
            <a:endParaRPr lang="en-US" sz="1800" dirty="0"/>
          </a:p>
        </p:txBody>
      </p:sp>
      <p:sp>
        <p:nvSpPr>
          <p:cNvPr id="38" name="Text 34"/>
          <p:cNvSpPr/>
          <p:nvPr/>
        </p:nvSpPr>
        <p:spPr>
          <a:xfrm>
            <a:off x="3575304" y="5184648"/>
            <a:ext cx="23225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Catálogo B2B con filtros y vida útil restante.</a:t>
            </a:r>
            <a:endParaRPr lang="en-US" sz="1000" dirty="0"/>
          </a:p>
        </p:txBody>
      </p:sp>
      <p:sp>
        <p:nvSpPr>
          <p:cNvPr id="39" name="Shape 35"/>
          <p:cNvSpPr/>
          <p:nvPr/>
        </p:nvSpPr>
        <p:spPr>
          <a:xfrm>
            <a:off x="6236208" y="2194560"/>
            <a:ext cx="2779776" cy="36576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40" name="Shape 36"/>
          <p:cNvSpPr/>
          <p:nvPr/>
        </p:nvSpPr>
        <p:spPr>
          <a:xfrm>
            <a:off x="6236208" y="2194560"/>
            <a:ext cx="2779776" cy="29260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6327648" y="2276856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42" name="Shape 38"/>
          <p:cNvSpPr/>
          <p:nvPr/>
        </p:nvSpPr>
        <p:spPr>
          <a:xfrm>
            <a:off x="6492240" y="2276856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>
            <a:off x="6656832" y="2276856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44" name="Shape 40"/>
          <p:cNvSpPr/>
          <p:nvPr/>
        </p:nvSpPr>
        <p:spPr>
          <a:xfrm>
            <a:off x="6922008" y="2249424"/>
            <a:ext cx="1956816" cy="1828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45" name="Text 41"/>
          <p:cNvSpPr/>
          <p:nvPr/>
        </p:nvSpPr>
        <p:spPr>
          <a:xfrm>
            <a:off x="6986016" y="2240280"/>
            <a:ext cx="1865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agropulse.mx/dashboard</a:t>
            </a:r>
            <a:endParaRPr lang="en-US" sz="800" dirty="0"/>
          </a:p>
        </p:txBody>
      </p:sp>
      <p:sp>
        <p:nvSpPr>
          <p:cNvPr id="46" name="Shape 42"/>
          <p:cNvSpPr/>
          <p:nvPr/>
        </p:nvSpPr>
        <p:spPr>
          <a:xfrm>
            <a:off x="6236208" y="2487168"/>
            <a:ext cx="2779776" cy="2194560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47" name="Shape 43"/>
          <p:cNvSpPr/>
          <p:nvPr/>
        </p:nvSpPr>
        <p:spPr>
          <a:xfrm>
            <a:off x="7168896" y="2898648"/>
            <a:ext cx="914400" cy="914400"/>
          </a:xfrm>
          <a:prstGeom prst="ellipse">
            <a:avLst/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20000"/>
              </a:srgbClr>
            </a:solidFill>
            <a:prstDash val="solid"/>
          </a:ln>
        </p:spPr>
      </p:sp>
      <p:pic>
        <p:nvPicPr>
          <p:cNvPr id="4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51776" y="3081528"/>
            <a:ext cx="548640" cy="548640"/>
          </a:xfrm>
          <a:prstGeom prst="rect">
            <a:avLst/>
          </a:prstGeom>
        </p:spPr>
      </p:pic>
      <p:sp>
        <p:nvSpPr>
          <p:cNvPr id="49" name="Shape 44"/>
          <p:cNvSpPr/>
          <p:nvPr/>
        </p:nvSpPr>
        <p:spPr>
          <a:xfrm>
            <a:off x="6510528" y="4041648"/>
            <a:ext cx="2231136" cy="91440"/>
          </a:xfrm>
          <a:prstGeom prst="rect">
            <a:avLst/>
          </a:prstGeom>
          <a:solidFill>
            <a:srgbClr val="0EA5E9">
              <a:alpha val="70000"/>
            </a:srgbClr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50" name="Shape 45"/>
          <p:cNvSpPr/>
          <p:nvPr/>
        </p:nvSpPr>
        <p:spPr>
          <a:xfrm>
            <a:off x="6510528" y="4224528"/>
            <a:ext cx="1682496" cy="73152"/>
          </a:xfrm>
          <a:prstGeom prst="rect">
            <a:avLst/>
          </a:prstGeom>
          <a:solidFill>
            <a:srgbClr val="FFFFFF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1" name="Shape 46"/>
          <p:cNvSpPr/>
          <p:nvPr/>
        </p:nvSpPr>
        <p:spPr>
          <a:xfrm>
            <a:off x="6510528" y="4361688"/>
            <a:ext cx="1956816" cy="73152"/>
          </a:xfrm>
          <a:prstGeom prst="rect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2" name="Text 47"/>
          <p:cNvSpPr/>
          <p:nvPr/>
        </p:nvSpPr>
        <p:spPr>
          <a:xfrm>
            <a:off x="6510528" y="3675888"/>
            <a:ext cx="223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500" kern="0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000" dirty="0"/>
          </a:p>
        </p:txBody>
      </p:sp>
      <p:sp>
        <p:nvSpPr>
          <p:cNvPr id="53" name="Text 48"/>
          <p:cNvSpPr/>
          <p:nvPr/>
        </p:nvSpPr>
        <p:spPr>
          <a:xfrm>
            <a:off x="6419088" y="4773168"/>
            <a:ext cx="24140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800" dirty="0"/>
          </a:p>
        </p:txBody>
      </p:sp>
      <p:sp>
        <p:nvSpPr>
          <p:cNvPr id="54" name="Text 49"/>
          <p:cNvSpPr/>
          <p:nvPr/>
        </p:nvSpPr>
        <p:spPr>
          <a:xfrm>
            <a:off x="6464808" y="5184648"/>
            <a:ext cx="23225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KPIs, sensores IoT en vivo y alertas.</a:t>
            </a:r>
            <a:endParaRPr lang="en-US" sz="1000" dirty="0"/>
          </a:p>
        </p:txBody>
      </p:sp>
      <p:sp>
        <p:nvSpPr>
          <p:cNvPr id="55" name="Shape 50"/>
          <p:cNvSpPr/>
          <p:nvPr/>
        </p:nvSpPr>
        <p:spPr>
          <a:xfrm>
            <a:off x="9125712" y="2194560"/>
            <a:ext cx="2779776" cy="36576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56" name="Shape 51"/>
          <p:cNvSpPr/>
          <p:nvPr/>
        </p:nvSpPr>
        <p:spPr>
          <a:xfrm>
            <a:off x="9125712" y="2194560"/>
            <a:ext cx="2779776" cy="29260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7" name="Shape 52"/>
          <p:cNvSpPr/>
          <p:nvPr/>
        </p:nvSpPr>
        <p:spPr>
          <a:xfrm>
            <a:off x="9217152" y="2276856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58" name="Shape 53"/>
          <p:cNvSpPr/>
          <p:nvPr/>
        </p:nvSpPr>
        <p:spPr>
          <a:xfrm>
            <a:off x="9381744" y="2276856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9" name="Shape 54"/>
          <p:cNvSpPr/>
          <p:nvPr/>
        </p:nvSpPr>
        <p:spPr>
          <a:xfrm>
            <a:off x="9546336" y="2276856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60" name="Shape 55"/>
          <p:cNvSpPr/>
          <p:nvPr/>
        </p:nvSpPr>
        <p:spPr>
          <a:xfrm>
            <a:off x="9811512" y="2249424"/>
            <a:ext cx="1956816" cy="1828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61" name="Text 56"/>
          <p:cNvSpPr/>
          <p:nvPr/>
        </p:nvSpPr>
        <p:spPr>
          <a:xfrm>
            <a:off x="9875520" y="2240280"/>
            <a:ext cx="1865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agropulse.mx/trazabilidad</a:t>
            </a:r>
            <a:endParaRPr lang="en-US" sz="800" dirty="0"/>
          </a:p>
        </p:txBody>
      </p:sp>
      <p:sp>
        <p:nvSpPr>
          <p:cNvPr id="62" name="Shape 57"/>
          <p:cNvSpPr/>
          <p:nvPr/>
        </p:nvSpPr>
        <p:spPr>
          <a:xfrm>
            <a:off x="9125712" y="2487168"/>
            <a:ext cx="2779776" cy="2194560"/>
          </a:xfrm>
          <a:prstGeom prst="rect">
            <a:avLst/>
          </a:prstGeom>
          <a:solidFill>
            <a:srgbClr val="14532D"/>
          </a:solidFill>
          <a:ln w="12700">
            <a:solidFill>
              <a:srgbClr val="14532D"/>
            </a:solidFill>
            <a:prstDash val="solid"/>
          </a:ln>
        </p:spPr>
      </p:sp>
      <p:sp>
        <p:nvSpPr>
          <p:cNvPr id="63" name="Shape 58"/>
          <p:cNvSpPr/>
          <p:nvPr/>
        </p:nvSpPr>
        <p:spPr>
          <a:xfrm>
            <a:off x="10058400" y="2898648"/>
            <a:ext cx="914400" cy="914400"/>
          </a:xfrm>
          <a:prstGeom prst="ellipse">
            <a:avLst/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20000"/>
              </a:srgbClr>
            </a:solidFill>
            <a:prstDash val="solid"/>
          </a:ln>
        </p:spPr>
      </p:sp>
      <p:pic>
        <p:nvPicPr>
          <p:cNvPr id="6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41280" y="3081528"/>
            <a:ext cx="548640" cy="548640"/>
          </a:xfrm>
          <a:prstGeom prst="rect">
            <a:avLst/>
          </a:prstGeom>
        </p:spPr>
      </p:pic>
      <p:sp>
        <p:nvSpPr>
          <p:cNvPr id="65" name="Shape 59"/>
          <p:cNvSpPr/>
          <p:nvPr/>
        </p:nvSpPr>
        <p:spPr>
          <a:xfrm>
            <a:off x="9400032" y="4041648"/>
            <a:ext cx="2231136" cy="91440"/>
          </a:xfrm>
          <a:prstGeom prst="rect">
            <a:avLst/>
          </a:prstGeom>
          <a:solidFill>
            <a:srgbClr val="84CC16">
              <a:alpha val="70000"/>
            </a:srgbClr>
          </a:solidFill>
          <a:ln w="12700">
            <a:solidFill>
              <a:srgbClr val="84CC16"/>
            </a:solidFill>
            <a:prstDash val="solid"/>
          </a:ln>
        </p:spPr>
      </p:sp>
      <p:sp>
        <p:nvSpPr>
          <p:cNvPr id="66" name="Shape 60"/>
          <p:cNvSpPr/>
          <p:nvPr/>
        </p:nvSpPr>
        <p:spPr>
          <a:xfrm>
            <a:off x="9400032" y="4224528"/>
            <a:ext cx="1682496" cy="73152"/>
          </a:xfrm>
          <a:prstGeom prst="rect">
            <a:avLst/>
          </a:prstGeom>
          <a:solidFill>
            <a:srgbClr val="FFFFFF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7" name="Shape 61"/>
          <p:cNvSpPr/>
          <p:nvPr/>
        </p:nvSpPr>
        <p:spPr>
          <a:xfrm>
            <a:off x="9400032" y="4361688"/>
            <a:ext cx="1956816" cy="73152"/>
          </a:xfrm>
          <a:prstGeom prst="rect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8" name="Text 62"/>
          <p:cNvSpPr/>
          <p:nvPr/>
        </p:nvSpPr>
        <p:spPr>
          <a:xfrm>
            <a:off x="9400032" y="3675888"/>
            <a:ext cx="223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500" kern="0" dirty="0">
                <a:solidFill>
                  <a:srgbClr val="84CC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TRAZABILIDAD</a:t>
            </a:r>
            <a:endParaRPr lang="en-US" sz="1000" dirty="0"/>
          </a:p>
        </p:txBody>
      </p:sp>
      <p:sp>
        <p:nvSpPr>
          <p:cNvPr id="69" name="Text 63"/>
          <p:cNvSpPr/>
          <p:nvPr/>
        </p:nvSpPr>
        <p:spPr>
          <a:xfrm>
            <a:off x="9308592" y="4773168"/>
            <a:ext cx="24140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Trazabilidad</a:t>
            </a:r>
            <a:endParaRPr lang="en-US" sz="1800" dirty="0"/>
          </a:p>
        </p:txBody>
      </p:sp>
      <p:sp>
        <p:nvSpPr>
          <p:cNvPr id="70" name="Text 64"/>
          <p:cNvSpPr/>
          <p:nvPr/>
        </p:nvSpPr>
        <p:spPr>
          <a:xfrm>
            <a:off x="9354312" y="5184648"/>
            <a:ext cx="23225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 público con historia del lote.</a:t>
            </a:r>
            <a:endParaRPr lang="en-US" sz="1000" dirty="0"/>
          </a:p>
        </p:txBody>
      </p:sp>
      <p:sp>
        <p:nvSpPr>
          <p:cNvPr id="71" name="Shape 65"/>
          <p:cNvSpPr/>
          <p:nvPr/>
        </p:nvSpPr>
        <p:spPr>
          <a:xfrm>
            <a:off x="457200" y="6080760"/>
            <a:ext cx="4114800" cy="320040"/>
          </a:xfrm>
          <a:prstGeom prst="roundRect">
            <a:avLst>
              <a:gd name="adj" fmla="val 11429"/>
            </a:avLst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72" name="Text 66"/>
          <p:cNvSpPr/>
          <p:nvPr/>
        </p:nvSpPr>
        <p:spPr>
          <a:xfrm>
            <a:off x="457200" y="608076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EN VIVO  ·  agropulse.mx</a:t>
            </a:r>
            <a:endParaRPr lang="en-US" sz="1100" dirty="0"/>
          </a:p>
        </p:txBody>
      </p:sp>
      <p:sp>
        <p:nvSpPr>
          <p:cNvPr id="73" name="Shape 67"/>
          <p:cNvSpPr/>
          <p:nvPr/>
        </p:nvSpPr>
        <p:spPr>
          <a:xfrm>
            <a:off x="457200" y="6473952"/>
            <a:ext cx="11277295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74" name="Text 68"/>
          <p:cNvSpPr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AgroPulse · Proyecto final 2026</a:t>
            </a:r>
            <a:endParaRPr lang="en-US" sz="900" dirty="0"/>
          </a:p>
        </p:txBody>
      </p:sp>
      <p:sp>
        <p:nvSpPr>
          <p:cNvPr id="75" name="Text 69"/>
          <p:cNvSpPr/>
          <p:nvPr/>
        </p:nvSpPr>
        <p:spPr>
          <a:xfrm>
            <a:off x="11094415" y="651052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A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82880" cy="182880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" y="3657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AGROPULSE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ESPERADOS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KPIs proyectados a 3 años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457200" y="1691640"/>
            <a:ext cx="548640" cy="54864"/>
          </a:xfrm>
          <a:prstGeom prst="rect">
            <a:avLst/>
          </a:prstGeom>
          <a:solidFill>
            <a:srgbClr val="84CC16"/>
          </a:solidFill>
          <a:ln w="12700">
            <a:solidFill>
              <a:srgbClr val="84CC1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2148840"/>
            <a:ext cx="3776472" cy="14630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6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2148840"/>
            <a:ext cx="91440" cy="1463040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286000"/>
            <a:ext cx="33192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-30%</a:t>
            </a:r>
            <a:endParaRPr lang="en-US" sz="4800" dirty="0"/>
          </a:p>
        </p:txBody>
      </p:sp>
      <p:sp>
        <p:nvSpPr>
          <p:cNvPr id="10" name="Text 8"/>
          <p:cNvSpPr/>
          <p:nvPr/>
        </p:nvSpPr>
        <p:spPr>
          <a:xfrm>
            <a:off x="731520" y="3063240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Mermas post-cosecha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31520" y="3337560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Reducción año 1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343400" y="2148840"/>
            <a:ext cx="3776472" cy="14630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6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343400" y="2148840"/>
            <a:ext cx="91440" cy="14630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17720" y="2286000"/>
            <a:ext cx="33192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</a:t>
            </a:r>
            <a:endParaRPr lang="en-US" sz="4800" dirty="0"/>
          </a:p>
        </p:txBody>
      </p:sp>
      <p:sp>
        <p:nvSpPr>
          <p:cNvPr id="15" name="Text 13"/>
          <p:cNvSpPr/>
          <p:nvPr/>
        </p:nvSpPr>
        <p:spPr>
          <a:xfrm>
            <a:off x="4617720" y="3063240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Productores onboarded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617720" y="3337560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Año 1 — 5,000 al año 3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229600" y="2148840"/>
            <a:ext cx="3776472" cy="14630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6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8229600" y="2148840"/>
            <a:ext cx="91440" cy="1463040"/>
          </a:xfrm>
          <a:prstGeom prst="rect">
            <a:avLst/>
          </a:prstGeom>
          <a:solidFill>
            <a:srgbClr val="84CC16"/>
          </a:solidFill>
          <a:ln w="12700">
            <a:solidFill>
              <a:srgbClr val="84CC1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03920" y="2286000"/>
            <a:ext cx="33192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84CC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 12M</a:t>
            </a:r>
            <a:endParaRPr lang="en-US" sz="4800" dirty="0"/>
          </a:p>
        </p:txBody>
      </p:sp>
      <p:sp>
        <p:nvSpPr>
          <p:cNvPr id="20" name="Text 18"/>
          <p:cNvSpPr/>
          <p:nvPr/>
        </p:nvSpPr>
        <p:spPr>
          <a:xfrm>
            <a:off x="8503920" y="3063240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GMV proyectado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503920" y="3337560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Año 1 — USD 80M al año 3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57200" y="37947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PROYECCIÓN A 3 AÑOS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57200" y="4069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Crecimiento estimado de KPIs clave</a:t>
            </a:r>
            <a:endParaRPr lang="en-US" sz="1400" dirty="0"/>
          </a:p>
        </p:txBody>
      </p:sp>
      <p:graphicFrame>
        <p:nvGraphicFramePr>
          <p:cNvPr id="24" name="Chart 0" descr=""/>
          <p:cNvGraphicFramePr/>
          <p:nvPr/>
        </p:nvGraphicFramePr>
        <p:xfrm>
          <a:off x="457200" y="4434840"/>
          <a:ext cx="6949440" cy="1645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Shape 22"/>
          <p:cNvSpPr/>
          <p:nvPr/>
        </p:nvSpPr>
        <p:spPr>
          <a:xfrm>
            <a:off x="7772400" y="3794760"/>
            <a:ext cx="3977640" cy="2286000"/>
          </a:xfrm>
          <a:prstGeom prst="rect">
            <a:avLst/>
          </a:prstGeom>
          <a:solidFill>
            <a:srgbClr val="14532D"/>
          </a:solidFill>
          <a:ln w="12700">
            <a:solidFill>
              <a:srgbClr val="14532D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7772400" y="3794760"/>
            <a:ext cx="3977640" cy="73152"/>
          </a:xfrm>
          <a:prstGeom prst="rect">
            <a:avLst/>
          </a:prstGeom>
          <a:solidFill>
            <a:srgbClr val="84CC16"/>
          </a:solidFill>
          <a:ln w="12700">
            <a:solidFill>
              <a:srgbClr val="84CC16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8046720" y="3977640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84CC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IMPACTO ACUMULADO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8046720" y="4251960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años de operación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8046720" y="475488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4CC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45%</a:t>
            </a:r>
            <a:endParaRPr lang="en-US" sz="1800" dirty="0"/>
          </a:p>
        </p:txBody>
      </p:sp>
      <p:sp>
        <p:nvSpPr>
          <p:cNvPr id="30" name="Text 27"/>
          <p:cNvSpPr/>
          <p:nvPr/>
        </p:nvSpPr>
        <p:spPr>
          <a:xfrm>
            <a:off x="9144000" y="4754880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Mermas eliminadas al año 3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8046720" y="516636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4CC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70%</a:t>
            </a:r>
            <a:endParaRPr lang="en-US" sz="1800" dirty="0"/>
          </a:p>
        </p:txBody>
      </p:sp>
      <p:sp>
        <p:nvSpPr>
          <p:cNvPr id="32" name="Text 29"/>
          <p:cNvSpPr/>
          <p:nvPr/>
        </p:nvSpPr>
        <p:spPr>
          <a:xfrm>
            <a:off x="9144000" y="5166360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Adopción IoT en productores año 2</a:t>
            </a:r>
            <a:endParaRPr lang="en-US" sz="1100" dirty="0"/>
          </a:p>
        </p:txBody>
      </p:sp>
      <p:sp>
        <p:nvSpPr>
          <p:cNvPr id="33" name="Text 30"/>
          <p:cNvSpPr/>
          <p:nvPr/>
        </p:nvSpPr>
        <p:spPr>
          <a:xfrm>
            <a:off x="8046720" y="557784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4CC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1M+</a:t>
            </a:r>
            <a:endParaRPr lang="en-US" sz="1800" dirty="0"/>
          </a:p>
        </p:txBody>
      </p:sp>
      <p:sp>
        <p:nvSpPr>
          <p:cNvPr id="34" name="Text 31"/>
          <p:cNvSpPr/>
          <p:nvPr/>
        </p:nvSpPr>
        <p:spPr>
          <a:xfrm>
            <a:off x="9144000" y="5577840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Toneladas evitadas al desperdicio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6473952"/>
            <a:ext cx="11277295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AgroPulse · Proyecto final 2026</a:t>
            </a:r>
            <a:endParaRPr lang="en-US" sz="900" dirty="0"/>
          </a:p>
        </p:txBody>
      </p:sp>
      <p:sp>
        <p:nvSpPr>
          <p:cNvPr id="37" name="Text 34"/>
          <p:cNvSpPr/>
          <p:nvPr/>
        </p:nvSpPr>
        <p:spPr>
          <a:xfrm>
            <a:off x="11094415" y="651052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A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82880" cy="182880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" y="3657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AGROPULSE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IMPACTO ESG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Contribución a los Objetivos de Desarrollo Sostenible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457200" y="1691640"/>
            <a:ext cx="548640" cy="54864"/>
          </a:xfrm>
          <a:prstGeom prst="rect">
            <a:avLst/>
          </a:prstGeom>
          <a:solidFill>
            <a:srgbClr val="84CC16"/>
          </a:solidFill>
          <a:ln w="12700">
            <a:solidFill>
              <a:srgbClr val="84CC1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2148840"/>
            <a:ext cx="3776472" cy="4114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6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2148840"/>
            <a:ext cx="3776472" cy="1920240"/>
          </a:xfrm>
          <a:prstGeom prst="rect">
            <a:avLst/>
          </a:prstGeom>
          <a:solidFill>
            <a:srgbClr val="DDA63A"/>
          </a:solidFill>
          <a:ln w="12700">
            <a:solidFill>
              <a:srgbClr val="DDA6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331720"/>
            <a:ext cx="322783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000" dirty="0"/>
          </a:p>
        </p:txBody>
      </p:sp>
      <p:sp>
        <p:nvSpPr>
          <p:cNvPr id="10" name="Text 8"/>
          <p:cNvSpPr/>
          <p:nvPr/>
        </p:nvSpPr>
        <p:spPr>
          <a:xfrm>
            <a:off x="777240" y="23774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ODS</a:t>
            </a:r>
            <a:endParaRPr lang="en-US" sz="1000" dirty="0"/>
          </a:p>
        </p:txBody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73552" y="2514600"/>
            <a:ext cx="685800" cy="68580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731520" y="4251960"/>
            <a:ext cx="32278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Hambre Cero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731520" y="5120640"/>
            <a:ext cx="457200" cy="0"/>
          </a:xfrm>
          <a:prstGeom prst="line">
            <a:avLst/>
          </a:prstGeom>
          <a:noFill/>
          <a:ln w="25400">
            <a:solidFill>
              <a:srgbClr val="DDA63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31520" y="521208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aporta AgroPulse: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731520" y="5486400"/>
            <a:ext cx="32278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Reducir desperdicio alimentario y mejorar disponibilidad de alimentos frescos.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4343400" y="2148840"/>
            <a:ext cx="3776472" cy="4114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6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4343400" y="2148840"/>
            <a:ext cx="3776472" cy="1920240"/>
          </a:xfrm>
          <a:prstGeom prst="rect">
            <a:avLst/>
          </a:prstGeom>
          <a:solidFill>
            <a:srgbClr val="BF8B2E"/>
          </a:solidFill>
          <a:ln w="12700">
            <a:solidFill>
              <a:srgbClr val="BF8B2E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617720" y="2331720"/>
            <a:ext cx="322783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0" dirty="0"/>
          </a:p>
        </p:txBody>
      </p:sp>
      <p:sp>
        <p:nvSpPr>
          <p:cNvPr id="19" name="Text 16"/>
          <p:cNvSpPr/>
          <p:nvPr/>
        </p:nvSpPr>
        <p:spPr>
          <a:xfrm>
            <a:off x="4663440" y="23774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ODS</a:t>
            </a:r>
            <a:endParaRPr lang="en-US" sz="1000" dirty="0"/>
          </a:p>
        </p:txBody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59752" y="2514600"/>
            <a:ext cx="685800" cy="685800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4617720" y="4251960"/>
            <a:ext cx="32278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Producción y Consumo Responsables</a:t>
            </a:r>
            <a:endParaRPr lang="en-US" sz="1700" dirty="0"/>
          </a:p>
        </p:txBody>
      </p:sp>
      <p:sp>
        <p:nvSpPr>
          <p:cNvPr id="22" name="Shape 18"/>
          <p:cNvSpPr/>
          <p:nvPr/>
        </p:nvSpPr>
        <p:spPr>
          <a:xfrm>
            <a:off x="4617720" y="5120640"/>
            <a:ext cx="457200" cy="0"/>
          </a:xfrm>
          <a:prstGeom prst="line">
            <a:avLst/>
          </a:prstGeom>
          <a:noFill/>
          <a:ln w="25400">
            <a:solidFill>
              <a:srgbClr val="BF8B2E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4617720" y="521208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aporta AgroPulse:</a:t>
            </a:r>
            <a:endParaRPr lang="en-US" sz="1000" dirty="0"/>
          </a:p>
        </p:txBody>
      </p:sp>
      <p:sp>
        <p:nvSpPr>
          <p:cNvPr id="24" name="Text 20"/>
          <p:cNvSpPr/>
          <p:nvPr/>
        </p:nvSpPr>
        <p:spPr>
          <a:xfrm>
            <a:off x="4617720" y="5486400"/>
            <a:ext cx="32278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Trazabilidad completa, eficiencia en la cadena y reducción de mermas.</a:t>
            </a:r>
            <a:endParaRPr lang="en-US" sz="1200" dirty="0"/>
          </a:p>
        </p:txBody>
      </p:sp>
      <p:sp>
        <p:nvSpPr>
          <p:cNvPr id="25" name="Shape 21"/>
          <p:cNvSpPr/>
          <p:nvPr/>
        </p:nvSpPr>
        <p:spPr>
          <a:xfrm>
            <a:off x="8229600" y="2148840"/>
            <a:ext cx="3776472" cy="4114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6000"/>
              </a:srgbClr>
            </a:outerShdw>
          </a:effectLst>
        </p:spPr>
      </p:sp>
      <p:sp>
        <p:nvSpPr>
          <p:cNvPr id="26" name="Shape 22"/>
          <p:cNvSpPr/>
          <p:nvPr/>
        </p:nvSpPr>
        <p:spPr>
          <a:xfrm>
            <a:off x="8229600" y="2148840"/>
            <a:ext cx="3776472" cy="1920240"/>
          </a:xfrm>
          <a:prstGeom prst="rect">
            <a:avLst/>
          </a:prstGeom>
          <a:solidFill>
            <a:srgbClr val="3F7E44"/>
          </a:solidFill>
          <a:ln w="12700">
            <a:solidFill>
              <a:srgbClr val="3F7E44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8503920" y="2331720"/>
            <a:ext cx="322783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0" dirty="0"/>
          </a:p>
        </p:txBody>
      </p:sp>
      <p:sp>
        <p:nvSpPr>
          <p:cNvPr id="28" name="Text 24"/>
          <p:cNvSpPr/>
          <p:nvPr/>
        </p:nvSpPr>
        <p:spPr>
          <a:xfrm>
            <a:off x="8549640" y="23774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ODS</a:t>
            </a:r>
            <a:endParaRPr lang="en-US" sz="1000" dirty="0"/>
          </a:p>
        </p:txBody>
      </p:sp>
      <p:pic>
        <p:nvPicPr>
          <p:cNvPr id="2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5952" y="2514600"/>
            <a:ext cx="685800" cy="685800"/>
          </a:xfrm>
          <a:prstGeom prst="rect">
            <a:avLst/>
          </a:prstGeom>
        </p:spPr>
      </p:pic>
      <p:sp>
        <p:nvSpPr>
          <p:cNvPr id="30" name="Text 25"/>
          <p:cNvSpPr/>
          <p:nvPr/>
        </p:nvSpPr>
        <p:spPr>
          <a:xfrm>
            <a:off x="8503920" y="4251960"/>
            <a:ext cx="32278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Acción por el Clima</a:t>
            </a:r>
            <a:endParaRPr lang="en-US" sz="1700" dirty="0"/>
          </a:p>
        </p:txBody>
      </p:sp>
      <p:sp>
        <p:nvSpPr>
          <p:cNvPr id="31" name="Shape 26"/>
          <p:cNvSpPr/>
          <p:nvPr/>
        </p:nvSpPr>
        <p:spPr>
          <a:xfrm>
            <a:off x="8503920" y="5120640"/>
            <a:ext cx="457200" cy="0"/>
          </a:xfrm>
          <a:prstGeom prst="line">
            <a:avLst/>
          </a:prstGeom>
          <a:noFill/>
          <a:ln w="25400">
            <a:solidFill>
              <a:srgbClr val="3F7E44"/>
            </a:solidFill>
            <a:prstDash val="solid"/>
          </a:ln>
        </p:spPr>
      </p:sp>
      <p:sp>
        <p:nvSpPr>
          <p:cNvPr id="32" name="Text 27"/>
          <p:cNvSpPr/>
          <p:nvPr/>
        </p:nvSpPr>
        <p:spPr>
          <a:xfrm>
            <a:off x="8503920" y="521208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aporta AgroPulse:</a:t>
            </a:r>
            <a:endParaRPr lang="en-US" sz="1000" dirty="0"/>
          </a:p>
        </p:txBody>
      </p:sp>
      <p:sp>
        <p:nvSpPr>
          <p:cNvPr id="33" name="Text 28"/>
          <p:cNvSpPr/>
          <p:nvPr/>
        </p:nvSpPr>
        <p:spPr>
          <a:xfrm>
            <a:off x="8503920" y="5486400"/>
            <a:ext cx="32278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Menor desperdicio = menor huella de carbono asociada a producción agrícola.</a:t>
            </a:r>
            <a:endParaRPr lang="en-US" sz="1200" dirty="0"/>
          </a:p>
        </p:txBody>
      </p:sp>
      <p:sp>
        <p:nvSpPr>
          <p:cNvPr id="34" name="Shape 29"/>
          <p:cNvSpPr/>
          <p:nvPr/>
        </p:nvSpPr>
        <p:spPr>
          <a:xfrm>
            <a:off x="457200" y="6473952"/>
            <a:ext cx="11277295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35" name="Text 30"/>
          <p:cNvSpPr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AgroPulse · Proyecto final 2026</a:t>
            </a:r>
            <a:endParaRPr lang="en-US" sz="900" dirty="0"/>
          </a:p>
        </p:txBody>
      </p:sp>
      <p:sp>
        <p:nvSpPr>
          <p:cNvPr id="36" name="Text 31"/>
          <p:cNvSpPr/>
          <p:nvPr/>
        </p:nvSpPr>
        <p:spPr>
          <a:xfrm>
            <a:off x="11094415" y="651052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AFA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82880" cy="182880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" y="3657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AGROPULSE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EQUIPO FUNDADOR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Cinco líderes con experiencia complementaria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457200" y="1691640"/>
            <a:ext cx="548640" cy="54864"/>
          </a:xfrm>
          <a:prstGeom prst="rect">
            <a:avLst/>
          </a:prstGeom>
          <a:solidFill>
            <a:srgbClr val="84CC16"/>
          </a:solidFill>
          <a:ln w="12700">
            <a:solidFill>
              <a:srgbClr val="84CC1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2148840"/>
            <a:ext cx="2212848" cy="4114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6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2148840"/>
            <a:ext cx="2212848" cy="1828800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9264" y="2468880"/>
            <a:ext cx="1188720" cy="11887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69264" y="24688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</a:t>
            </a:r>
            <a:endParaRPr lang="en-US" sz="3800" dirty="0"/>
          </a:p>
        </p:txBody>
      </p:sp>
      <p:sp>
        <p:nvSpPr>
          <p:cNvPr id="11" name="Text 9"/>
          <p:cNvSpPr/>
          <p:nvPr/>
        </p:nvSpPr>
        <p:spPr>
          <a:xfrm>
            <a:off x="640080" y="3703320"/>
            <a:ext cx="1847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5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CEO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94360" y="4206240"/>
            <a:ext cx="19385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Sebastián Torres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1380744" y="4892040"/>
            <a:ext cx="365760" cy="0"/>
          </a:xfrm>
          <a:prstGeom prst="line">
            <a:avLst/>
          </a:prstGeom>
          <a:noFill/>
          <a:ln w="19050">
            <a:solidFill>
              <a:srgbClr val="1580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5074920"/>
            <a:ext cx="18470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Ing. Industrial · ex-Heineken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2779776" y="2148840"/>
            <a:ext cx="2212848" cy="4114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6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2779776" y="2148840"/>
            <a:ext cx="2212848" cy="1828800"/>
          </a:xfrm>
          <a:prstGeom prst="rect">
            <a:avLst/>
          </a:prstGeom>
          <a:solidFill>
            <a:srgbClr val="14532D"/>
          </a:solidFill>
          <a:ln w="12700">
            <a:solidFill>
              <a:srgbClr val="14532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291840" y="2468880"/>
            <a:ext cx="1188720" cy="11887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291840" y="24688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45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MF</a:t>
            </a:r>
            <a:endParaRPr lang="en-US" sz="3800" dirty="0"/>
          </a:p>
        </p:txBody>
      </p:sp>
      <p:sp>
        <p:nvSpPr>
          <p:cNvPr id="19" name="Text 17"/>
          <p:cNvSpPr/>
          <p:nvPr/>
        </p:nvSpPr>
        <p:spPr>
          <a:xfrm>
            <a:off x="2962656" y="3703320"/>
            <a:ext cx="1847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5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CTO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916936" y="4206240"/>
            <a:ext cx="19385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María Fernanda López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3703320" y="4892040"/>
            <a:ext cx="365760" cy="0"/>
          </a:xfrm>
          <a:prstGeom prst="line">
            <a:avLst/>
          </a:prstGeom>
          <a:noFill/>
          <a:ln w="19050">
            <a:solidFill>
              <a:srgbClr val="14532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962656" y="5074920"/>
            <a:ext cx="18470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 CS · ML aplicado al agro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102352" y="2148840"/>
            <a:ext cx="2212848" cy="4114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6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5102352" y="2148840"/>
            <a:ext cx="2212848" cy="18288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614416" y="2468880"/>
            <a:ext cx="1188720" cy="11887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614416" y="24688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</a:t>
            </a:r>
            <a:endParaRPr lang="en-US" sz="3800" dirty="0"/>
          </a:p>
        </p:txBody>
      </p:sp>
      <p:sp>
        <p:nvSpPr>
          <p:cNvPr id="27" name="Text 25"/>
          <p:cNvSpPr/>
          <p:nvPr/>
        </p:nvSpPr>
        <p:spPr>
          <a:xfrm>
            <a:off x="5285232" y="3703320"/>
            <a:ext cx="1847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5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239512" y="4206240"/>
            <a:ext cx="19385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Diego Ramírez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6025896" y="4892040"/>
            <a:ext cx="365760" cy="0"/>
          </a:xfrm>
          <a:prstGeom prst="line">
            <a:avLst/>
          </a:prstGeom>
          <a:noFill/>
          <a:ln w="19050">
            <a:solidFill>
              <a:srgbClr val="F59E0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285232" y="5074920"/>
            <a:ext cx="18470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años en operaciones agrícolas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7424928" y="2148840"/>
            <a:ext cx="2212848" cy="4114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6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7424928" y="2148840"/>
            <a:ext cx="2212848" cy="1828800"/>
          </a:xfrm>
          <a:prstGeom prst="rect">
            <a:avLst/>
          </a:prstGeom>
          <a:solidFill>
            <a:srgbClr val="84CC16"/>
          </a:solidFill>
          <a:ln w="12700">
            <a:solidFill>
              <a:srgbClr val="84CC1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936992" y="2468880"/>
            <a:ext cx="1188720" cy="11887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936992" y="24688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84CC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</a:t>
            </a:r>
            <a:endParaRPr lang="en-US" sz="3800" dirty="0"/>
          </a:p>
        </p:txBody>
      </p:sp>
      <p:sp>
        <p:nvSpPr>
          <p:cNvPr id="35" name="Text 33"/>
          <p:cNvSpPr/>
          <p:nvPr/>
        </p:nvSpPr>
        <p:spPr>
          <a:xfrm>
            <a:off x="7607808" y="3703320"/>
            <a:ext cx="1847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5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CFO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7562088" y="4206240"/>
            <a:ext cx="19385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 Sofía Hernández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8348472" y="4892040"/>
            <a:ext cx="365760" cy="0"/>
          </a:xfrm>
          <a:prstGeom prst="line">
            <a:avLst/>
          </a:prstGeom>
          <a:noFill/>
          <a:ln w="19050">
            <a:solidFill>
              <a:srgbClr val="84CC1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607808" y="5074920"/>
            <a:ext cx="18470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Ex-banca · experiencia fintech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9747504" y="2148840"/>
            <a:ext cx="2212848" cy="4114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6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9747504" y="2148840"/>
            <a:ext cx="2212848" cy="1828800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0259568" y="2468880"/>
            <a:ext cx="1188720" cy="11887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0259568" y="24688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LM</a:t>
            </a:r>
            <a:endParaRPr lang="en-US" sz="3800" dirty="0"/>
          </a:p>
        </p:txBody>
      </p:sp>
      <p:sp>
        <p:nvSpPr>
          <p:cNvPr id="43" name="Text 41"/>
          <p:cNvSpPr/>
          <p:nvPr/>
        </p:nvSpPr>
        <p:spPr>
          <a:xfrm>
            <a:off x="9930384" y="3703320"/>
            <a:ext cx="1847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5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 SUSTAINABILITY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9884664" y="4206240"/>
            <a:ext cx="19385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Luis Mendoza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10671048" y="4892040"/>
            <a:ext cx="365760" cy="0"/>
          </a:xfrm>
          <a:prstGeom prst="line">
            <a:avLst/>
          </a:prstGeom>
          <a:noFill/>
          <a:ln w="19050">
            <a:solidFill>
              <a:srgbClr val="0EA5E9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9930384" y="5074920"/>
            <a:ext cx="18470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Ing. Agrónomo · GLOBALG.A.P.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457200" y="6473952"/>
            <a:ext cx="11277295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AgroPulse · Proyecto final 2026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11094415" y="651052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453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28600"/>
          </a:xfrm>
          <a:prstGeom prst="rect">
            <a:avLst/>
          </a:prstGeom>
          <a:solidFill>
            <a:srgbClr val="84CC16"/>
          </a:solidFill>
          <a:ln w="12700">
            <a:solidFill>
              <a:srgbClr val="84CC1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84CC16"/>
          </a:solidFill>
          <a:ln w="12700">
            <a:solidFill>
              <a:srgbClr val="84CC1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272888" y="1188720"/>
            <a:ext cx="1645920" cy="1645920"/>
          </a:xfrm>
          <a:prstGeom prst="roundRect">
            <a:avLst>
              <a:gd name="adj" fmla="val 12222"/>
            </a:avLst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38648" y="1554480"/>
            <a:ext cx="914400" cy="9144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0" y="3017520"/>
            <a:ext cx="121916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AgroPulse</a:t>
            </a:r>
            <a:endParaRPr lang="en-US" sz="8800" dirty="0"/>
          </a:p>
        </p:txBody>
      </p:sp>
      <p:sp>
        <p:nvSpPr>
          <p:cNvPr id="7" name="Text 4"/>
          <p:cNvSpPr/>
          <p:nvPr/>
        </p:nvSpPr>
        <p:spPr>
          <a:xfrm>
            <a:off x="0" y="4023360"/>
            <a:ext cx="121916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i="1" dirty="0">
                <a:solidFill>
                  <a:srgbClr val="84CC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pulso inteligente de tu cosecha.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5364328" y="4663440"/>
            <a:ext cx="1463040" cy="54864"/>
          </a:xfrm>
          <a:prstGeom prst="rect">
            <a:avLst/>
          </a:prstGeom>
          <a:solidFill>
            <a:srgbClr val="84CC16"/>
          </a:solidFill>
          <a:ln w="12700">
            <a:solidFill>
              <a:srgbClr val="84CC1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0" y="4846320"/>
            <a:ext cx="12191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8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GRACIAS · ¿PREGUNTAS?</a:t>
            </a:r>
            <a:endParaRPr lang="en-US" sz="14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5532120"/>
            <a:ext cx="320040" cy="32004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2697480" y="55321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hola@agropulse.mx</a:t>
            </a:r>
            <a:endParaRPr lang="en-US" sz="13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553212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5257800" y="55321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agropulse.mx</a:t>
            </a:r>
            <a:endParaRPr lang="en-US" sz="1300" dirty="0"/>
          </a:p>
        </p:txBody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06640" y="5532120"/>
            <a:ext cx="320040" cy="32004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7818120" y="55321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Querétaro, México</a:t>
            </a:r>
            <a:endParaRPr lang="en-US" sz="1300" dirty="0"/>
          </a:p>
        </p:txBody>
      </p:sp>
      <p:sp>
        <p:nvSpPr>
          <p:cNvPr id="16" name="Text 10"/>
          <p:cNvSpPr/>
          <p:nvPr/>
        </p:nvSpPr>
        <p:spPr>
          <a:xfrm>
            <a:off x="0" y="6126480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4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AgroPulse Technologies S.A. de C.V.  ·  Querétaro 2026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AgroPulse Technologies S.A. de C.V.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AgroPulse — El pulso inteligente de tu cosecha</dc:title>
  <dc:subject>Proyecto final · Comercio y Negocios Digitales · SATM 2026</dc:subject>
  <dc:creator>Sebastián Torres</dc:creator>
  <cp:lastModifiedBy>Sebastián Torres</cp:lastModifiedBy>
  <cp:revision>1</cp:revision>
  <dcterms:created xsi:type="dcterms:W3CDTF">2026-05-12T21:52:51Z</dcterms:created>
  <dcterms:modified xsi:type="dcterms:W3CDTF">2026-05-12T21:52:51Z</dcterms:modified>
</cp:coreProperties>
</file>