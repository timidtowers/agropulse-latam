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(USD M)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532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Año 1 (2026)</c:v>
                  </c:pt>
                  <c:pt idx="1">
                    <c:v>Año 2 (2027)</c:v>
                  </c:pt>
                  <c:pt idx="2">
                    <c:v>Año 3 (2028)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34</c:v>
                </c:pt>
                <c:pt idx="2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4532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solidFill>
          <a:srgbClr val="FAFAF9"/>
        </a:solidFill>
        <a:ln>
          <a:noFill/>
        </a:ln>
        <a:effectLst/>
      </c:spPr>
    </c:plotArea>
    <c:plotVisOnly val="1"/>
    <c:dispBlanksAs val="span"/>
  </c:chart>
  <c:spPr>
    <a:solidFill>
      <a:srgbClr val="FA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ebas/OneDrive/Desktop/VS/Proyecto-final-comoercioynegociosdigitales-SATM/docs/campus-aere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20A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170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 ·  E-BUSINESS  ·  COSTA RICA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630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pPr indent="0" marL="0">
              <a:buNone/>
            </a:pPr>
            <a:r>
              <a:rPr lang="en-US" sz="6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487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pulso inteligente de tu cosecha.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99923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E-business con IoT, analítica predictiva y marketplace B2B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8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las pérdidas post-cosecha en América Latina.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2011680" cy="0"/>
          </a:xfrm>
          <a:prstGeom prst="line">
            <a:avLst/>
          </a:prstGeom>
          <a:noFill/>
          <a:ln w="19050">
            <a:solidFill>
              <a:srgbClr val="84CC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096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Torres</a:t>
            </a:r>
            <a:pPr indent="0" marL="0">
              <a:buNone/>
            </a:pPr>
            <a:r>
              <a:rPr lang="en-US" sz="14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Universidad Latina de Costa Rica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407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y Negocios Digitales  ·  Julio 2026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35240" y="4882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conceptual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veremos hoy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99032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28930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post-cosecha en LATAM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207008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3752" y="1399032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67528" y="128930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fundador y sede en San José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276856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216712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y solución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TAM/SOM y los 4 pilares de AgroPulse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2084832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3752" y="2276856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67528" y="216712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vivo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compra y módulos implementados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1546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5568" y="304495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2FA, rate limiting y auditoría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09160" y="2962656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31546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67528" y="304495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Ingresos, comisiones y planes SaaS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4032504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15568" y="392277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casos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proyectados y casos de éxito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709160" y="3840480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4032504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67528" y="392277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y cierre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2 · 12 · 13 y contacto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· 1 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cosecha que nunca llega a la mesa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producción agrícola en países en desarrollo se pierde entre la cosecha y el consumidor final (FAO, 2023).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28016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48132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35 %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47872" y="2304288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producción perecedera se pierde en Costa Rica y Centroamérica: café, piña, banano y hortalizas del Valle Central.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28016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481328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38.000 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55664" y="2304288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costo anual estimado de estas pérdidas para América Latina.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8266176" cy="713232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041648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07008" y="395020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millones de toneladas de alimentos </a:t>
            </a:r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desperdician cada año en América Latina — el equivalente a alimentar a 300 millones de personas.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· 2 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brechas tecnológicas en el campo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79192" cy="1572768"/>
          </a:xfrm>
          <a:prstGeom prst="roundRect">
            <a:avLst>
              <a:gd name="adj" fmla="val 4651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26464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41" y="152302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1408176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en tiempo real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3852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humedad y vida útil del inventario perecedero a ciegas.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4992" y="1261872"/>
            <a:ext cx="2679192" cy="1572768"/>
          </a:xfrm>
          <a:prstGeom prst="roundRect">
            <a:avLst>
              <a:gd name="adj" fmla="val 4651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426464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433" y="152302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9936" y="1408176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frío sin monitoreo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47872" y="193852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 no detectadas que aceleran el deterioro del producto.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261872"/>
            <a:ext cx="2679192" cy="1572768"/>
          </a:xfrm>
          <a:prstGeom prst="roundRect">
            <a:avLst>
              <a:gd name="adj" fmla="val 4651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1426464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225" y="152302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1408176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pronóstico de demanda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55664" y="1938528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siembra y venta sin datos ni modelos predictivos.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79192" cy="1572768"/>
          </a:xfrm>
          <a:prstGeom prst="roundRect">
            <a:avLst>
              <a:gd name="adj" fmla="val 4651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227832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41" y="3324393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2144" y="3209544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Desconexión productor–comprador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3739896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intermediarios que reducen el margen hasta 25 %.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364992" y="3063240"/>
            <a:ext cx="2679192" cy="1572768"/>
          </a:xfrm>
          <a:prstGeom prst="roundRect">
            <a:avLst>
              <a:gd name="adj" fmla="val 4651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47872" y="3227832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433" y="3324393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59936" y="3209544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47872" y="3739896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inspección y comercialización en papel, hojas de cálculo y WhatsApp.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063240"/>
            <a:ext cx="2679192" cy="1572768"/>
          </a:xfrm>
          <a:prstGeom prst="roundRect">
            <a:avLst>
              <a:gd name="adj" fmla="val 4651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55664" y="3227832"/>
            <a:ext cx="402336" cy="402336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225" y="3324393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67728" y="3209544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verificable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55664" y="3739896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final no puede validar el origen ni el recorrido del lote.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ebas/OneDrive/Desktop/VS/Proyecto-final-comoercioynegociosdigitales-SATM/docs/campus-interi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2120" y="4846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conceptual · Sede AgroPulse, San José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 Vida AgriTech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Technologies S.A. nace en 2024 en San José, Costa Rica, con un campus corporativo de paneles solares y techos verdes en el corazón del Valle Central.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084832"/>
            <a:ext cx="461772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1E7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22951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3" y="2391705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139696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F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las pérdidas post-cosecha integrando IoT, analítica predictiva y un marketplace B2B.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461772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9525">
            <a:solidFill>
              <a:srgbClr val="D1E7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1792" y="3227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3" y="3324393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072384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F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la plataforma líder de perecederos en LATAM al 2030, eliminando 1 millón de toneladas de desperdicio al año.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· Transparencia · Innovación · Equidad · Trazabilidad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FUNDADOR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Torres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14532D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1481328"/>
            <a:ext cx="786384" cy="786384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14813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Torres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06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Fundador, CEO y arquitecto técnico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1371600" cy="0"/>
          </a:xfrm>
          <a:prstGeom prst="line">
            <a:avLst/>
          </a:prstGeom>
          <a:noFill/>
          <a:ln w="12700">
            <a:solidFill>
              <a:srgbClr val="2F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186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 Informáticos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Latina de Costa Rica (ULatina)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José, Costa Rica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207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1572768"/>
            <a:ext cx="2496312" cy="932688"/>
          </a:xfrm>
          <a:prstGeom prst="roundRect">
            <a:avLst>
              <a:gd name="adj" fmla="val 7843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1700784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7569" y="1784177"/>
            <a:ext cx="180685" cy="18068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133088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Security+ (SY0-701)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94176" y="21396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· Mar 2024 · Ciberseguridad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27064" y="1572768"/>
            <a:ext cx="2496312" cy="932688"/>
          </a:xfrm>
          <a:prstGeom prst="roundRect">
            <a:avLst>
              <a:gd name="adj" fmla="val 7843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1700784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473" y="1784177"/>
            <a:ext cx="180685" cy="1806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9399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355080" y="21396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Coursera · Jul 2024 · Datos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566160" y="2651760"/>
            <a:ext cx="2496312" cy="932688"/>
          </a:xfrm>
          <a:prstGeom prst="roundRect">
            <a:avLst>
              <a:gd name="adj" fmla="val 7843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694176" y="2779776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569" y="2863169"/>
            <a:ext cx="180685" cy="18068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133088" y="274320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Foundation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694176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TÜV Rheinland CR · Oct 2024 · Auditoría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227064" y="2651760"/>
            <a:ext cx="2496312" cy="932688"/>
          </a:xfrm>
          <a:prstGeom prst="roundRect">
            <a:avLst>
              <a:gd name="adj" fmla="val 7843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55080" y="2779776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473" y="2863169"/>
            <a:ext cx="180685" cy="18068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93992" y="274320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CCNA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355080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 · Ene 2025 · Redes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3566160" y="3730752"/>
            <a:ext cx="2496312" cy="932688"/>
          </a:xfrm>
          <a:prstGeom prst="roundRect">
            <a:avLst>
              <a:gd name="adj" fmla="val 7843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694176" y="3858768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7569" y="3942161"/>
            <a:ext cx="180685" cy="18068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133088" y="382219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Practitioner (CLF-C02)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3694176" y="42976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· Abr 2025 · Cloud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6227064" y="3730752"/>
            <a:ext cx="2496312" cy="932688"/>
          </a:xfrm>
          <a:prstGeom prst="roundRect">
            <a:avLst>
              <a:gd name="adj" fmla="val 7843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355080" y="3858768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473" y="3942161"/>
            <a:ext cx="180685" cy="18068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93992" y="382219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Ethical Hacker (CEH v13)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355080" y="42976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EC-Council · Ago 2025 · Hacking ético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en Costa Rica, escala a LATAM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2976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45336"/>
            <a:ext cx="420624" cy="420624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1646286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3716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8.500 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25296" y="17922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mercado AgriTech direccionable en América Latina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42976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660904"/>
            <a:ext cx="420624" cy="420624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30" y="2761854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5296" y="24871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85 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225296" y="2907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inicial — Valle Central CR + corredor cafetero centroamericano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493008"/>
            <a:ext cx="42976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776472"/>
            <a:ext cx="420624" cy="420624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877422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5296" y="36027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64.000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225296" y="4023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productivas direccionables; foco inicial en 3.200 productores ticos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0" y="1261872"/>
            <a:ext cx="3694176" cy="3218688"/>
          </a:xfrm>
          <a:prstGeom prst="roundRect">
            <a:avLst>
              <a:gd name="adj" fmla="val 2841"/>
            </a:avLst>
          </a:prstGeom>
          <a:solidFill>
            <a:srgbClr val="14532D"/>
          </a:solidFill>
          <a:ln/>
        </p:spPr>
      </p:sp>
      <p:sp>
        <p:nvSpPr>
          <p:cNvPr id="20" name="Text 15"/>
          <p:cNvSpPr/>
          <p:nvPr/>
        </p:nvSpPr>
        <p:spPr>
          <a:xfrm>
            <a:off x="5257800" y="1426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en 10 países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257800" y="1828800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84CC16"/>
          </a:solidFill>
          <a:ln/>
        </p:spPr>
      </p:sp>
      <p:sp>
        <p:nvSpPr>
          <p:cNvPr id="22" name="Text 17"/>
          <p:cNvSpPr/>
          <p:nvPr/>
        </p:nvSpPr>
        <p:spPr>
          <a:xfrm>
            <a:off x="5257800" y="18288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· Sede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013448" y="1828800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24" name="Text 19"/>
          <p:cNvSpPr/>
          <p:nvPr/>
        </p:nvSpPr>
        <p:spPr>
          <a:xfrm>
            <a:off x="7013448" y="18288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257800" y="2313432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26" name="Text 21"/>
          <p:cNvSpPr/>
          <p:nvPr/>
        </p:nvSpPr>
        <p:spPr>
          <a:xfrm>
            <a:off x="5257800" y="23134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013448" y="2313432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28" name="Text 23"/>
          <p:cNvSpPr/>
          <p:nvPr/>
        </p:nvSpPr>
        <p:spPr>
          <a:xfrm>
            <a:off x="7013448" y="23134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257800" y="2798064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30" name="Text 25"/>
          <p:cNvSpPr/>
          <p:nvPr/>
        </p:nvSpPr>
        <p:spPr>
          <a:xfrm>
            <a:off x="525780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013448" y="2798064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32" name="Text 27"/>
          <p:cNvSpPr/>
          <p:nvPr/>
        </p:nvSpPr>
        <p:spPr>
          <a:xfrm>
            <a:off x="7013448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Perú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257800" y="3282696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34" name="Text 29"/>
          <p:cNvSpPr/>
          <p:nvPr/>
        </p:nvSpPr>
        <p:spPr>
          <a:xfrm>
            <a:off x="5257800" y="32826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7013448" y="3282696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36" name="Text 31"/>
          <p:cNvSpPr/>
          <p:nvPr/>
        </p:nvSpPr>
        <p:spPr>
          <a:xfrm>
            <a:off x="7013448" y="328269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Uruguay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257800" y="3767328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38" name="Text 33"/>
          <p:cNvSpPr/>
          <p:nvPr/>
        </p:nvSpPr>
        <p:spPr>
          <a:xfrm>
            <a:off x="5257800" y="37673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7013448" y="3767328"/>
            <a:ext cx="1627632" cy="365760"/>
          </a:xfrm>
          <a:prstGeom prst="roundRect">
            <a:avLst>
              <a:gd name="adj" fmla="val 40000"/>
            </a:avLst>
          </a:prstGeom>
          <a:solidFill>
            <a:srgbClr val="1E6B3D"/>
          </a:solidFill>
          <a:ln/>
        </p:spPr>
      </p:sp>
      <p:sp>
        <p:nvSpPr>
          <p:cNvPr id="40" name="Text 35"/>
          <p:cNvSpPr/>
          <p:nvPr/>
        </p:nvSpPr>
        <p:spPr>
          <a:xfrm>
            <a:off x="7013448" y="37673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5029200" y="4572000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monedas locales con conversión dinámica · restricción de compra por país de origen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AgroPulse: cuatro pilares integrados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66176" cy="512064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15214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buNone/>
            </a:pPr>
            <a:r>
              <a:rPr lang="en-US" sz="1200" dirty="0">
                <a:solidFill>
                  <a:srgbClr val="3F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las pérdidas post-cosecha en al menos 30 % durante el primer año de operación.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1984248" cy="260604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121408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2244303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61488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 tiempo real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3346704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temperatura, humedad y vida útil con streaming SSE en vivo.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51176" y="1883664"/>
            <a:ext cx="1984248" cy="260604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52344" y="2121408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9" y="2244303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34056" y="2761488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predictiva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734056" y="3346704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demanda por región, temporada y producto con Machine Learning.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45152" y="1883664"/>
            <a:ext cx="1984248" cy="260604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2121408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15" y="2244303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28032" y="2761488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B2B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828032" y="3346704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productos + lotes dinámicos, stock en vivo y matching oferta–demanda.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39128" y="1883664"/>
            <a:ext cx="1984248" cy="260604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40296" y="2121408"/>
            <a:ext cx="512064" cy="51206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191" y="2244303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22008" y="2761488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922008" y="3346704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público por lote y tracking de pedidos en mapa en tiempo real.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 a la entrega en 5 pasos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81328" cy="2697480"/>
          </a:xfrm>
          <a:prstGeom prst="roundRect">
            <a:avLst>
              <a:gd name="adj" fmla="val 5556"/>
            </a:avLst>
          </a:prstGeom>
          <a:solidFill>
            <a:srgbClr val="FAFA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499616"/>
            <a:ext cx="310896" cy="31089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44752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924" y="1582644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" y="1938528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país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" y="254203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 país de origen: solo compras productos de tu país.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63674" y="2587752"/>
            <a:ext cx="164592" cy="256032"/>
          </a:xfrm>
          <a:prstGeom prst="rightArrow">
            <a:avLst/>
          </a:prstGeom>
          <a:solidFill>
            <a:srgbClr val="84CC16"/>
          </a:solidFill>
          <a:ln/>
        </p:spPr>
      </p:sp>
      <p:sp>
        <p:nvSpPr>
          <p:cNvPr id="11" name="Shape 8"/>
          <p:cNvSpPr/>
          <p:nvPr/>
        </p:nvSpPr>
        <p:spPr>
          <a:xfrm>
            <a:off x="2153412" y="1371600"/>
            <a:ext cx="1481328" cy="2697480"/>
          </a:xfrm>
          <a:prstGeom prst="roundRect">
            <a:avLst>
              <a:gd name="adj" fmla="val 5556"/>
            </a:avLst>
          </a:prstGeom>
          <a:solidFill>
            <a:srgbClr val="FAFA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72284" y="1499616"/>
            <a:ext cx="310896" cy="31089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140964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136" y="1582644"/>
            <a:ext cx="199705" cy="1997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72284" y="1938528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vivo + reserva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272284" y="254203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al carrito reserva stock por 2 horas; se reintegra si no pagas.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9886" y="2587752"/>
            <a:ext cx="164592" cy="256032"/>
          </a:xfrm>
          <a:prstGeom prst="rightArrow">
            <a:avLst/>
          </a:prstGeom>
          <a:solidFill>
            <a:srgbClr val="84CC16"/>
          </a:solidFill>
          <a:ln/>
        </p:spPr>
      </p:sp>
      <p:sp>
        <p:nvSpPr>
          <p:cNvPr id="18" name="Shape 14"/>
          <p:cNvSpPr/>
          <p:nvPr/>
        </p:nvSpPr>
        <p:spPr>
          <a:xfrm>
            <a:off x="3849624" y="1371600"/>
            <a:ext cx="1481328" cy="2697480"/>
          </a:xfrm>
          <a:prstGeom prst="roundRect">
            <a:avLst>
              <a:gd name="adj" fmla="val 5556"/>
            </a:avLst>
          </a:prstGeom>
          <a:solidFill>
            <a:srgbClr val="FAFA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68496" y="1499616"/>
            <a:ext cx="310896" cy="31089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37176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348" y="1582644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68496" y="1938528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y cupones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968496" y="254203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por peso, cupones (TICO25, CAFE20…) y 8 % entre productores.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356098" y="2587752"/>
            <a:ext cx="164592" cy="256032"/>
          </a:xfrm>
          <a:prstGeom prst="rightArrow">
            <a:avLst/>
          </a:prstGeom>
          <a:solidFill>
            <a:srgbClr val="84CC16"/>
          </a:solidFill>
          <a:ln/>
        </p:spPr>
      </p:sp>
      <p:sp>
        <p:nvSpPr>
          <p:cNvPr id="25" name="Shape 20"/>
          <p:cNvSpPr/>
          <p:nvPr/>
        </p:nvSpPr>
        <p:spPr>
          <a:xfrm>
            <a:off x="5545836" y="1371600"/>
            <a:ext cx="1481328" cy="2697480"/>
          </a:xfrm>
          <a:prstGeom prst="roundRect">
            <a:avLst>
              <a:gd name="adj" fmla="val 5556"/>
            </a:avLst>
          </a:prstGeom>
          <a:solidFill>
            <a:srgbClr val="FAFA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4708" y="1499616"/>
            <a:ext cx="310896" cy="31089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533388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560" y="1582644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4708" y="1938528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local o Stripe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664708" y="254203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SINPE Móvil, SPEI/OXXO, PIX, Yape… o tarjeta con Stripe en modo test.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52310" y="2587752"/>
            <a:ext cx="164592" cy="256032"/>
          </a:xfrm>
          <a:prstGeom prst="rightArrow">
            <a:avLst/>
          </a:prstGeom>
          <a:solidFill>
            <a:srgbClr val="84CC16"/>
          </a:solidFill>
          <a:ln/>
        </p:spPr>
      </p:sp>
      <p:sp>
        <p:nvSpPr>
          <p:cNvPr id="32" name="Shape 26"/>
          <p:cNvSpPr/>
          <p:nvPr/>
        </p:nvSpPr>
        <p:spPr>
          <a:xfrm>
            <a:off x="7242048" y="1371600"/>
            <a:ext cx="1481328" cy="269748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1430">
            <a:solidFill>
              <a:srgbClr val="A7D9B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360920" y="1499616"/>
            <a:ext cx="310896" cy="310896"/>
          </a:xfrm>
          <a:prstGeom prst="rect">
            <a:avLst/>
          </a:prstGeom>
          <a:solidFill>
            <a:srgbClr val="1580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2296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772" y="158264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60920" y="1938528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+ chat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360920" y="2542032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estados, mapa en vivo con el envío y chat comprador–productor.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57200" y="4261104"/>
            <a:ext cx="8266176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/>
        </p:spPr>
      </p:sp>
      <p:sp>
        <p:nvSpPr>
          <p:cNvPr id="39" name="Text 32"/>
          <p:cNvSpPr/>
          <p:nvPr/>
        </p:nvSpPr>
        <p:spPr>
          <a:xfrm>
            <a:off x="658368" y="4261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con emails HTML reales (Resend) al cliente y al productor · progresión de estados determinística: el pedido nunca retrocede.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VIVO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implementados y desplegados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416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4041648" cy="292608"/>
          </a:xfrm>
          <a:prstGeom prst="roundRect">
            <a:avLst>
              <a:gd name="adj" fmla="val 21875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362456"/>
            <a:ext cx="91440" cy="9144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362456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362456"/>
            <a:ext cx="91440" cy="9144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289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agropulse-web.vercel.app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productor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920240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su moneda local (₡, $, R$…) + export Excel/PDF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2331720"/>
            <a:ext cx="164592" cy="320040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2424" y="2103120"/>
            <a:ext cx="164592" cy="548640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3630168" y="2212848"/>
            <a:ext cx="164592" cy="438912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15" name="Shape 13"/>
          <p:cNvSpPr/>
          <p:nvPr/>
        </p:nvSpPr>
        <p:spPr>
          <a:xfrm>
            <a:off x="3867912" y="1901952"/>
            <a:ext cx="164592" cy="749808"/>
          </a:xfrm>
          <a:prstGeom prst="roundRect">
            <a:avLst>
              <a:gd name="adj" fmla="val 11111"/>
            </a:avLst>
          </a:prstGeom>
          <a:solidFill>
            <a:srgbClr val="84CC1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05656" y="2029968"/>
            <a:ext cx="164592" cy="621792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17" name="Shape 15"/>
          <p:cNvSpPr/>
          <p:nvPr/>
        </p:nvSpPr>
        <p:spPr>
          <a:xfrm>
            <a:off x="4681728" y="1261872"/>
            <a:ext cx="40416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261872"/>
            <a:ext cx="4041648" cy="292608"/>
          </a:xfrm>
          <a:prstGeom prst="roundRect">
            <a:avLst>
              <a:gd name="adj" fmla="val 21875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91456" y="1362456"/>
            <a:ext cx="91440" cy="9144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362456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5084064" y="1362456"/>
            <a:ext cx="91440" cy="9144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22" name="Text 20"/>
          <p:cNvSpPr/>
          <p:nvPr/>
        </p:nvSpPr>
        <p:spPr>
          <a:xfrm>
            <a:off x="5321808" y="1289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agropulse-web.vercel.app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 tiempo real (SSE)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1920240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humedad y vida útil por sensor, en streaming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79208" y="2377440"/>
            <a:ext cx="118872" cy="274320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0376" y="2194560"/>
            <a:ext cx="118872" cy="457200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1544" y="2267712"/>
            <a:ext cx="118872" cy="384048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7982712" y="2048256"/>
            <a:ext cx="118872" cy="603504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8183880" y="2148840"/>
            <a:ext cx="118872" cy="502920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8385048" y="1938528"/>
            <a:ext cx="118872" cy="713232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7543800" y="1645920"/>
            <a:ext cx="868680" cy="237744"/>
          </a:xfrm>
          <a:prstGeom prst="roundRect">
            <a:avLst>
              <a:gd name="adj" fmla="val 38462"/>
            </a:avLst>
          </a:prstGeom>
          <a:solidFill>
            <a:srgbClr val="DCFCE7"/>
          </a:solidFill>
          <a:ln/>
        </p:spPr>
      </p:sp>
      <p:sp>
        <p:nvSpPr>
          <p:cNvPr id="32" name="Shape 30"/>
          <p:cNvSpPr/>
          <p:nvPr/>
        </p:nvSpPr>
        <p:spPr>
          <a:xfrm>
            <a:off x="7616952" y="1728216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3" name="Text 31"/>
          <p:cNvSpPr/>
          <p:nvPr/>
        </p:nvSpPr>
        <p:spPr>
          <a:xfrm>
            <a:off x="7708392" y="16459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2980944"/>
            <a:ext cx="40416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2980944"/>
            <a:ext cx="4041648" cy="292608"/>
          </a:xfrm>
          <a:prstGeom prst="roundRect">
            <a:avLst>
              <a:gd name="adj" fmla="val 21875"/>
            </a:avLst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3081528"/>
            <a:ext cx="91440" cy="9144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308152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8" name="Shape 36"/>
          <p:cNvSpPr/>
          <p:nvPr/>
        </p:nvSpPr>
        <p:spPr>
          <a:xfrm>
            <a:off x="859536" y="3081528"/>
            <a:ext cx="91440" cy="9144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30083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agropulse-web.vercel.app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1792" y="3346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y stock en vivo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" y="3639312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lotes del productor + reservas temporales de 2 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54680" y="3438144"/>
            <a:ext cx="1170432" cy="164592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/>
        </p:spPr>
      </p:sp>
      <p:sp>
        <p:nvSpPr>
          <p:cNvPr id="43" name="Shape 41"/>
          <p:cNvSpPr/>
          <p:nvPr/>
        </p:nvSpPr>
        <p:spPr>
          <a:xfrm>
            <a:off x="3154680" y="3694176"/>
            <a:ext cx="1170432" cy="164592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3154680" y="3950208"/>
            <a:ext cx="1170432" cy="164592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3154680" y="4206240"/>
            <a:ext cx="1170432" cy="164592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941064" y="34107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81728" y="2980944"/>
            <a:ext cx="404164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81728" y="2980944"/>
            <a:ext cx="4041648" cy="292608"/>
          </a:xfrm>
          <a:prstGeom prst="roundRect">
            <a:avLst>
              <a:gd name="adj" fmla="val 21875"/>
            </a:avLst>
          </a:prstGeom>
          <a:solidFill>
            <a:srgbClr val="F1F5F9"/>
          </a:solidFill>
          <a:ln/>
        </p:spPr>
      </p:sp>
      <p:sp>
        <p:nvSpPr>
          <p:cNvPr id="49" name="Shape 47"/>
          <p:cNvSpPr/>
          <p:nvPr/>
        </p:nvSpPr>
        <p:spPr>
          <a:xfrm>
            <a:off x="4791456" y="3081528"/>
            <a:ext cx="91440" cy="9144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50" name="Shape 48"/>
          <p:cNvSpPr/>
          <p:nvPr/>
        </p:nvSpPr>
        <p:spPr>
          <a:xfrm>
            <a:off x="4937760" y="3081528"/>
            <a:ext cx="91440" cy="9144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51" name="Shape 49"/>
          <p:cNvSpPr/>
          <p:nvPr/>
        </p:nvSpPr>
        <p:spPr>
          <a:xfrm>
            <a:off x="5084064" y="3081528"/>
            <a:ext cx="91440" cy="9144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52" name="Text 50"/>
          <p:cNvSpPr/>
          <p:nvPr/>
        </p:nvSpPr>
        <p:spPr>
          <a:xfrm>
            <a:off x="5321808" y="30083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agropulse-web.vercel.app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46320" y="3346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y auditoría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46320" y="3639312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pedidos, logs de acciones sensibles y emails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79208" y="3419856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6" name="Shape 54"/>
          <p:cNvSpPr/>
          <p:nvPr/>
        </p:nvSpPr>
        <p:spPr>
          <a:xfrm>
            <a:off x="7562088" y="3419856"/>
            <a:ext cx="987552" cy="1097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</p:sp>
      <p:sp>
        <p:nvSpPr>
          <p:cNvPr id="57" name="Shape 55"/>
          <p:cNvSpPr/>
          <p:nvPr/>
        </p:nvSpPr>
        <p:spPr>
          <a:xfrm>
            <a:off x="7379208" y="36850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7562088" y="3685032"/>
            <a:ext cx="987552" cy="1097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7379208" y="3950208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0" name="Shape 58"/>
          <p:cNvSpPr/>
          <p:nvPr/>
        </p:nvSpPr>
        <p:spPr>
          <a:xfrm>
            <a:off x="7562088" y="3950208"/>
            <a:ext cx="987552" cy="1097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</p:sp>
      <p:sp>
        <p:nvSpPr>
          <p:cNvPr id="61" name="Shape 59"/>
          <p:cNvSpPr/>
          <p:nvPr/>
        </p:nvSpPr>
        <p:spPr>
          <a:xfrm>
            <a:off x="7379208" y="4215384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2" name="Shape 60"/>
          <p:cNvSpPr/>
          <p:nvPr/>
        </p:nvSpPr>
        <p:spPr>
          <a:xfrm>
            <a:off x="7562088" y="4215384"/>
            <a:ext cx="987552" cy="1097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590288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estilizados · plataforma real en producción: agropulse-web.vercel.app — 220+ rutas, 35+ endpoints REST, i18n ES/EN/PT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DIFERENCIADOR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nivel empresarial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41648" cy="1481328"/>
          </a:xfrm>
          <a:prstGeom prst="roundRect">
            <a:avLst>
              <a:gd name="adj" fmla="val 5556"/>
            </a:avLst>
          </a:prstGeom>
          <a:solidFill>
            <a:srgbClr val="1E6B3D"/>
          </a:solidFill>
          <a:ln w="9525">
            <a:solidFill>
              <a:srgbClr val="2F7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420624" cy="420624"/>
          </a:xfrm>
          <a:prstGeom prst="ellipse">
            <a:avLst/>
          </a:prstGeom>
          <a:solidFill>
            <a:srgbClr val="84CC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1582278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4630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robusta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07008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con credenciales + JWT y 4 roles: admin, productor, cliente y logística (RBAC granular).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81728" y="1298448"/>
            <a:ext cx="4041648" cy="1481328"/>
          </a:xfrm>
          <a:prstGeom prst="roundRect">
            <a:avLst>
              <a:gd name="adj" fmla="val 5556"/>
            </a:avLst>
          </a:prstGeom>
          <a:solidFill>
            <a:srgbClr val="1E6B3D"/>
          </a:solidFill>
          <a:ln w="9525">
            <a:solidFill>
              <a:srgbClr val="2F7A4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4608" y="1481328"/>
            <a:ext cx="420624" cy="420624"/>
          </a:xfrm>
          <a:prstGeom prst="ellipse">
            <a:avLst/>
          </a:prstGeom>
          <a:solidFill>
            <a:srgbClr val="84CC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58" y="158227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1536" y="14630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TOTP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31536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con apps de autenticación para las cuentas que lo activan.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62656"/>
            <a:ext cx="4041648" cy="1481328"/>
          </a:xfrm>
          <a:prstGeom prst="roundRect">
            <a:avLst>
              <a:gd name="adj" fmla="val 5556"/>
            </a:avLst>
          </a:prstGeom>
          <a:solidFill>
            <a:srgbClr val="1E6B3D"/>
          </a:solidFill>
          <a:ln w="9525">
            <a:solidFill>
              <a:srgbClr val="2F7A4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145536"/>
            <a:ext cx="420624" cy="420624"/>
          </a:xfrm>
          <a:prstGeom prst="ellipse">
            <a:avLst/>
          </a:prstGeom>
          <a:solidFill>
            <a:srgbClr val="84CC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246486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1272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07008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5 intentos de login; bloqueo temporal de 15 minutos contra fuerza bruta.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81728" y="2962656"/>
            <a:ext cx="4041648" cy="1481328"/>
          </a:xfrm>
          <a:prstGeom prst="roundRect">
            <a:avLst>
              <a:gd name="adj" fmla="val 5556"/>
            </a:avLst>
          </a:prstGeom>
          <a:solidFill>
            <a:srgbClr val="1E6B3D"/>
          </a:solidFill>
          <a:ln w="9525">
            <a:solidFill>
              <a:srgbClr val="2F7A4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64608" y="3145536"/>
            <a:ext cx="420624" cy="420624"/>
          </a:xfrm>
          <a:prstGeom prst="ellipse">
            <a:avLst/>
          </a:prstGeom>
          <a:solidFill>
            <a:srgbClr val="84CC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558" y="3246486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31536" y="312724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31536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todas las acciones sensibles, visible y filtrable en el panel de administración.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526280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verificada con tests E2E de Playwright en cada push (GitHub Actions).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fuentes de ingreso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167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404518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070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suscripción IoT  —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Básico, Pro y Enterprise en USD con conversión a 10 monedas.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901952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20116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099462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9019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transacción  —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 sobre cada venta, calculada sobre el subtotal tras descuentos.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596896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3504" y="27066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279440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59689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logísticos  —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frío, tracking en mapa en vivo y rol de logística dedicado.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29184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3504" y="34015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489350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291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 promocionales  —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Generales, de envío, por categoría y por rol para activar demanda.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986784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" y="40965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184294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9867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premium  —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ESG, certificaciones digitales y consultoría.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669280" y="1207008"/>
            <a:ext cx="3054096" cy="1627632"/>
          </a:xfrm>
          <a:prstGeom prst="roundRect">
            <a:avLst>
              <a:gd name="adj" fmla="val 5618"/>
            </a:avLst>
          </a:prstGeom>
          <a:solidFill>
            <a:srgbClr val="15803D"/>
          </a:solidFill>
          <a:ln/>
        </p:spPr>
      </p:sp>
      <p:sp>
        <p:nvSpPr>
          <p:cNvPr id="25" name="Text 18"/>
          <p:cNvSpPr/>
          <p:nvPr/>
        </p:nvSpPr>
        <p:spPr>
          <a:xfrm>
            <a:off x="585216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3400" dirty="0"/>
          </a:p>
        </p:txBody>
      </p:sp>
      <p:sp>
        <p:nvSpPr>
          <p:cNvPr id="26" name="Text 19"/>
          <p:cNvSpPr/>
          <p:nvPr/>
        </p:nvSpPr>
        <p:spPr>
          <a:xfrm>
            <a:off x="5852160" y="1975104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comisión en cada transacción del marketplace B2B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669280" y="2999232"/>
            <a:ext cx="3054096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852160" y="3163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3400" dirty="0"/>
          </a:p>
        </p:txBody>
      </p:sp>
      <p:sp>
        <p:nvSpPr>
          <p:cNvPr id="29" name="Text 22"/>
          <p:cNvSpPr/>
          <p:nvPr/>
        </p:nvSpPr>
        <p:spPr>
          <a:xfrm>
            <a:off x="5852160" y="3767328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descuento automático cuando un productor le compra a otro productor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SAAS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simples, monedas locales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2679192" cy="3127248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4447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79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6656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sensores incluidos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64261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61518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analítico web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2666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99923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IoT en tiempo real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41071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383280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lote con QR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79476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767328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50 lotes activos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364992" y="1225296"/>
            <a:ext cx="2679192" cy="3127248"/>
          </a:xfrm>
          <a:prstGeom prst="roundRect">
            <a:avLst>
              <a:gd name="adj" fmla="val 3413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023360" y="1097280"/>
            <a:ext cx="1371600" cy="274320"/>
          </a:xfrm>
          <a:prstGeom prst="roundRect">
            <a:avLst>
              <a:gd name="adj" fmla="val 43333"/>
            </a:avLst>
          </a:prstGeom>
          <a:solidFill>
            <a:srgbClr val="84CC16"/>
          </a:solidFill>
          <a:ln/>
        </p:spPr>
      </p:sp>
      <p:sp>
        <p:nvSpPr>
          <p:cNvPr id="18" name="Text 12"/>
          <p:cNvSpPr/>
          <p:nvPr/>
        </p:nvSpPr>
        <p:spPr>
          <a:xfrm>
            <a:off x="402336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3584448" y="14447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584448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199</a:t>
            </a:r>
            <a:pPr indent="0" marL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3584448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sensores + pronóstico ML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642616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22192" y="261518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plan Básico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026664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22192" y="299923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 con ML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410712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22192" y="3383280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ESG mensuales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8" y="3794760"/>
            <a:ext cx="164592" cy="16459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22192" y="3767328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ilimitados + soporte 4 h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6272784" y="1225296"/>
            <a:ext cx="2679192" cy="3127248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6492240" y="14447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6492240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cotizar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</p:txBody>
      </p:sp>
      <p:sp>
        <p:nvSpPr>
          <p:cNvPr id="33" name="Text 23"/>
          <p:cNvSpPr/>
          <p:nvPr/>
        </p:nvSpPr>
        <p:spPr>
          <a:xfrm>
            <a:off x="6492240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ilimitados + API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2642616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729984" y="261518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plan Pro</a:t>
            </a:r>
            <a:endParaRPr lang="en-US" sz="10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026664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729984" y="299923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completa + multi-finca</a:t>
            </a:r>
            <a:endParaRPr lang="en-US" sz="10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3410712"/>
            <a:ext cx="164592" cy="16459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729984" y="3383280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24/7 con SLA</a:t>
            </a:r>
            <a:endParaRPr lang="en-US" sz="1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3794760"/>
            <a:ext cx="164592" cy="16459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729984" y="3767328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opcional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457200" y="4517136"/>
            <a:ext cx="8266176" cy="310896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/>
        </p:spPr>
      </p:sp>
      <p:sp>
        <p:nvSpPr>
          <p:cNvPr id="43" name="Text 29"/>
          <p:cNvSpPr/>
          <p:nvPr/>
        </p:nvSpPr>
        <p:spPr>
          <a:xfrm>
            <a:off x="658368" y="45171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anual con 15–17 % de descuento · precios base en USD con conversión dinámica a 10 monedas LATAM</a:t>
            </a:r>
            <a:endParaRPr lang="en-US" sz="1000" dirty="0"/>
          </a:p>
        </p:txBody>
      </p:sp>
      <p:sp>
        <p:nvSpPr>
          <p:cNvPr id="44" name="Text 30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45" name="Text 31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Implementado, testeado y en producción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4041648" cy="969264"/>
          </a:xfrm>
          <a:prstGeom prst="roundRect">
            <a:avLst>
              <a:gd name="adj" fmla="val 754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5179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65" y="161446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298448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+ TypeScript · Tailwind CSS 4 · framer-motion · Recharts · Leaflet · Zustand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81728" y="1243584"/>
            <a:ext cx="4041648" cy="969264"/>
          </a:xfrm>
          <a:prstGeom prst="roundRect">
            <a:avLst>
              <a:gd name="adj" fmla="val 754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28032" y="15179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93" y="1614465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8384" y="1298448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(PostgreSQL): usuarios, pedidos, lotes, reservas, cupones, chat y auditoría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4041648" cy="969264"/>
          </a:xfrm>
          <a:prstGeom prst="roundRect">
            <a:avLst>
              <a:gd name="adj" fmla="val 754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3504" y="26517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5" y="2748321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2432304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Events: IoT en vivo, stock en vivo y tracking de pedidos (compatible con serverless)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81728" y="2377440"/>
            <a:ext cx="4041648" cy="969264"/>
          </a:xfrm>
          <a:prstGeom prst="roundRect">
            <a:avLst>
              <a:gd name="adj" fmla="val 754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28032" y="26517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593" y="2748321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58384" y="2432304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(JWT + 2FA) · Stripe en modo test · Resend para emails transaccionales HTML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" y="3511296"/>
            <a:ext cx="4041648" cy="969264"/>
          </a:xfrm>
          <a:prstGeom prst="roundRect">
            <a:avLst>
              <a:gd name="adj" fmla="val 754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" y="378561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5" y="3882177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33856" y="356616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de flujos críticos · GitHub Actions: lint + build + tests en cada push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81728" y="3511296"/>
            <a:ext cx="4041648" cy="969264"/>
          </a:xfrm>
          <a:prstGeom prst="roundRect">
            <a:avLst>
              <a:gd name="adj" fmla="val 7547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828032" y="378561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593" y="3882177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58384" y="356616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i18n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en producción · GitHub CI/CD · internacionalización ES / EN / PT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4572000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220+ rutas generadas  ·  35+ endpoints REST  ·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Narrativa: sensores LoRaWAN, ML XGBoost/Prophet y blockchain de trazabilidad (representados, no implementados)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PROYECTADOS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medible desde el año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35661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350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79222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mermas en el año 1 (−45 % al año 3). Los 30 casos del sitio ya promedian −30 %.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5661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onboarded en Costa Rica el año 1 → 5.000 en LATAM al año 3.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511296"/>
            <a:ext cx="35661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602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12 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405993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GMV anual proyectado el año 1 → USD 80 M al año 3.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243584"/>
            <a:ext cx="4425696" cy="3273552"/>
          </a:xfrm>
          <a:prstGeom prst="roundRect">
            <a:avLst>
              <a:gd name="adj" fmla="val 2514"/>
            </a:avLst>
          </a:prstGeom>
          <a:solidFill>
            <a:srgbClr val="FAFA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proyectado (USD millones)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480560" y="1700784"/>
          <a:ext cx="41148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historias reales en 10 países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79192" cy="2724912"/>
          </a:xfrm>
          <a:prstGeom prst="roundRect">
            <a:avLst>
              <a:gd name="adj" fmla="val 3072"/>
            </a:avLst>
          </a:prstGeom>
          <a:solidFill>
            <a:srgbClr val="FAFAF9"/>
          </a:solidFill>
          <a:ln w="1143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264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92224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“Antes adivinábamos el punto de secado; ahora lo vemos en el teléfono. Ese cambio nos abrió la puerta del café de especialidad.”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Navarro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y jefe de beneficio · Café Tarrazú, Costa Rica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64992" y="1261872"/>
            <a:ext cx="2679192" cy="2724912"/>
          </a:xfrm>
          <a:prstGeom prst="roundRect">
            <a:avLst>
              <a:gd name="adj" fmla="val 3072"/>
            </a:avLst>
          </a:prstGeom>
          <a:solidFill>
            <a:srgbClr val="F0FDF4"/>
          </a:solidFill>
          <a:ln w="11430">
            <a:solidFill>
              <a:srgbClr val="A7D9B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42646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47872" y="1792224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comprador en Rotterdam ve la misma temperatura que yo veo en Pital. Esa transparencia nos ganó el contrato anual.”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547872" y="329184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Rojas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exportaciones · Piña, San Carlos, Costa Rica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72784" y="1261872"/>
            <a:ext cx="2679192" cy="2724912"/>
          </a:xfrm>
          <a:prstGeom prst="roundRect">
            <a:avLst>
              <a:gd name="adj" fmla="val 3072"/>
            </a:avLst>
          </a:prstGeom>
          <a:solidFill>
            <a:srgbClr val="FAFAF9"/>
          </a:solidFill>
          <a:ln w="1143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2646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5664" y="1792224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tarima lleva su historia: cuándo se cortó, a qué temperatura viajó. El importador paga más por esa certeza.”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455664" y="329184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 Cortés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 de la huerta · Aguacate Hass, Uruapan, México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4206240"/>
            <a:ext cx="8266176" cy="512064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ln/>
        </p:spPr>
      </p:sp>
      <p:sp>
        <p:nvSpPr>
          <p:cNvPr id="17" name="Text 12"/>
          <p:cNvSpPr/>
          <p:nvPr/>
        </p:nvSpPr>
        <p:spPr>
          <a:xfrm>
            <a:off x="713232" y="420624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casos · 3 por país · filtrables en el sitio  —  </a:t>
            </a:r>
            <a:pPr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promedio de mermas: −30 %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Alineados con la Agenda 2030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79192" cy="3063240"/>
          </a:xfrm>
          <a:prstGeom prst="roundRect">
            <a:avLst>
              <a:gd name="adj" fmla="val 3413"/>
            </a:avLst>
          </a:prstGeom>
          <a:solidFill>
            <a:srgbClr val="DDA63A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536192"/>
            <a:ext cx="566928" cy="56692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80" y="166091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3619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76656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Hambre cero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" y="303580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pérdidas post-cosecha significa más alimentos disponibles: 127 M de toneladas recuperables al año en LATAM.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64992" y="1298448"/>
            <a:ext cx="2679192" cy="3063240"/>
          </a:xfrm>
          <a:prstGeom prst="roundRect">
            <a:avLst>
              <a:gd name="adj" fmla="val 3413"/>
            </a:avLst>
          </a:prstGeom>
          <a:solidFill>
            <a:srgbClr val="BF8B2E"/>
          </a:solidFill>
          <a:ln/>
        </p:spPr>
      </p:sp>
      <p:sp>
        <p:nvSpPr>
          <p:cNvPr id="11" name="Shape 8"/>
          <p:cNvSpPr/>
          <p:nvPr/>
        </p:nvSpPr>
        <p:spPr>
          <a:xfrm>
            <a:off x="3584448" y="1536192"/>
            <a:ext cx="566928" cy="56692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172" y="1660916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153619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84448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consumo responsables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84448" y="303580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QR y stock en vivo reducen el desperdicio en toda la cadena de suministro.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298448"/>
            <a:ext cx="2679192" cy="3063240"/>
          </a:xfrm>
          <a:prstGeom prst="roundRect">
            <a:avLst>
              <a:gd name="adj" fmla="val 3413"/>
            </a:avLst>
          </a:prstGeom>
          <a:solidFill>
            <a:srgbClr val="3F7E44"/>
          </a:solidFill>
          <a:ln/>
        </p:spPr>
      </p:sp>
      <p:sp>
        <p:nvSpPr>
          <p:cNvPr id="17" name="Shape 13"/>
          <p:cNvSpPr/>
          <p:nvPr/>
        </p:nvSpPr>
        <p:spPr>
          <a:xfrm>
            <a:off x="6492240" y="1536192"/>
            <a:ext cx="566928" cy="56692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964" y="1660916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05472" y="153619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49224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por el clima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92240" y="303580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tonelada no desperdiciada evita emisiones de metano y optimiza el uso de agua y suelo.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 — Proyecto final 2026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41248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ebas/OneDrive/Desktop/VS/Proyecto-final-comoercioynegociosdigitales-SATM/docs/campus-aere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20A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58368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pulso inteligente de tu cosecha.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" y="2505456"/>
            <a:ext cx="292608" cy="292608"/>
          </a:xfrm>
          <a:prstGeom prst="ellipse">
            <a:avLst/>
          </a:prstGeom>
          <a:solidFill>
            <a:srgbClr val="0E3B20"/>
          </a:solidFill>
          <a:ln w="9525">
            <a:solidFill>
              <a:srgbClr val="2F7A4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569464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4871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sebastorresagropulse@gmail.com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58368" y="2962656"/>
            <a:ext cx="292608" cy="292608"/>
          </a:xfrm>
          <a:prstGeom prst="ellipse">
            <a:avLst/>
          </a:prstGeom>
          <a:solidFill>
            <a:srgbClr val="0E3B20"/>
          </a:solidFill>
          <a:ln w="9525">
            <a:solidFill>
              <a:srgbClr val="2F7A4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26664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9443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+506 8337 8828 (WhatsApp)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58368" y="3419856"/>
            <a:ext cx="292608" cy="292608"/>
          </a:xfrm>
          <a:prstGeom prst="ellipse">
            <a:avLst/>
          </a:prstGeom>
          <a:solidFill>
            <a:srgbClr val="0E3B20"/>
          </a:solidFill>
          <a:ln w="9525">
            <a:solidFill>
              <a:srgbClr val="2F7A4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483864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4015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agropulse-web.vercel.app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58368" y="3877056"/>
            <a:ext cx="292608" cy="292608"/>
          </a:xfrm>
          <a:prstGeom prst="ellipse">
            <a:avLst/>
          </a:prstGeom>
          <a:solidFill>
            <a:srgbClr val="0E3B20"/>
          </a:solidFill>
          <a:ln w="9525">
            <a:solidFill>
              <a:srgbClr val="2F7A4B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94106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8587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github.com/TimidTowers/agropulse-latam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58368" y="4526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Torres</a:t>
            </a:r>
            <a:pPr indent="0" marL="0">
              <a:buNone/>
            </a:pPr>
            <a:r>
              <a:rPr lang="en-US" sz="115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Universidad Latina de Costa Rica  ·  Comercio y Negocios Digitales  ·  Julio 2026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7635240" y="4882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conceptual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AgroPulse — El pulso inteligente de tu cosecha</dc:title>
  <dc:subject>PptxGenJS Presentation</dc:subject>
  <dc:creator>Sebastián Torres</dc:creator>
  <cp:lastModifiedBy>Sebastián Torres</cp:lastModifiedBy>
  <cp:revision>1</cp:revision>
  <dcterms:created xsi:type="dcterms:W3CDTF">2026-07-03T01:22:04Z</dcterms:created>
  <dcterms:modified xsi:type="dcterms:W3CDTF">2026-07-03T01:22:04Z</dcterms:modified>
</cp:coreProperties>
</file>